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Shape 1"/>
          <p:cNvSpPr/>
          <p:nvPr/>
        </p:nvSpPr>
        <p:spPr>
          <a:xfrm>
            <a:off x="0" y="0"/>
            <a:ext cx="502920" cy="6858000"/>
          </a:xfrm>
          <a:prstGeom prst="rect">
            <a:avLst/>
          </a:prstGeom>
          <a:solidFill>
            <a:srgbClr val="D8D0C4"/>
          </a:solidFill>
          <a:ln/>
        </p:spPr>
      </p:sp>
      <p:sp>
        <p:nvSpPr>
          <p:cNvPr id="4" name="Text 2"/>
          <p:cNvSpPr/>
          <p:nvPr/>
        </p:nvSpPr>
        <p:spPr>
          <a:xfrm>
            <a:off x="822960" y="1645920"/>
            <a:ext cx="9144000" cy="731520"/>
          </a:xfrm>
          <a:prstGeom prst="rect">
            <a:avLst/>
          </a:prstGeom>
          <a:noFill/>
          <a:ln/>
        </p:spPr>
        <p:txBody>
          <a:bodyPr wrap="square" rtlCol="0" anchor="ctr"/>
          <a:lstStyle/>
          <a:p>
            <a:pPr indent="0" marL="0">
              <a:buNone/>
            </a:pPr>
            <a:r>
              <a:rPr lang="en-US" sz="5200" b="1" dirty="0">
                <a:solidFill>
                  <a:srgbClr val="BF5700"/>
                </a:solidFill>
                <a:latin typeface="Georgia" pitchFamily="34" charset="0"/>
                <a:ea typeface="Georgia" pitchFamily="34" charset="-122"/>
                <a:cs typeface="Georgia" pitchFamily="34" charset="-120"/>
              </a:rPr>
              <a:t>MODULE 5</a:t>
            </a:r>
            <a:endParaRPr lang="en-US" sz="5200" dirty="0"/>
          </a:p>
        </p:txBody>
      </p:sp>
      <p:sp>
        <p:nvSpPr>
          <p:cNvPr id="5" name="Text 3"/>
          <p:cNvSpPr/>
          <p:nvPr/>
        </p:nvSpPr>
        <p:spPr>
          <a:xfrm>
            <a:off x="822960" y="2331720"/>
            <a:ext cx="10058400" cy="640080"/>
          </a:xfrm>
          <a:prstGeom prst="rect">
            <a:avLst/>
          </a:prstGeom>
          <a:noFill/>
          <a:ln/>
        </p:spPr>
        <p:txBody>
          <a:bodyPr wrap="square" rtlCol="0" anchor="ctr"/>
          <a:lstStyle/>
          <a:p>
            <a:pPr indent="0" marL="0">
              <a:buNone/>
            </a:pPr>
            <a:r>
              <a:rPr lang="en-US" sz="3000" dirty="0">
                <a:solidFill>
                  <a:srgbClr val="2D2D2D"/>
                </a:solidFill>
                <a:latin typeface="Georgia" pitchFamily="34" charset="0"/>
                <a:ea typeface="Georgia" pitchFamily="34" charset="-122"/>
                <a:cs typeface="Georgia" pitchFamily="34" charset="-120"/>
              </a:rPr>
              <a:t>Low Poly, UVs, and Texel Density</a:t>
            </a:r>
            <a:endParaRPr lang="en-US" sz="3000" dirty="0"/>
          </a:p>
        </p:txBody>
      </p:sp>
      <p:sp>
        <p:nvSpPr>
          <p:cNvPr id="6" name="Shape 4"/>
          <p:cNvSpPr/>
          <p:nvPr/>
        </p:nvSpPr>
        <p:spPr>
          <a:xfrm>
            <a:off x="822960" y="3246120"/>
            <a:ext cx="3200400" cy="0"/>
          </a:xfrm>
          <a:prstGeom prst="line">
            <a:avLst/>
          </a:prstGeom>
          <a:noFill/>
          <a:ln w="12700">
            <a:solidFill>
              <a:srgbClr val="D8D0C4"/>
            </a:solidFill>
            <a:prstDash val="solid"/>
          </a:ln>
        </p:spPr>
      </p:sp>
      <p:sp>
        <p:nvSpPr>
          <p:cNvPr id="7" name="Text 5"/>
          <p:cNvSpPr/>
          <p:nvPr/>
        </p:nvSpPr>
        <p:spPr>
          <a:xfrm>
            <a:off x="822960" y="3383280"/>
            <a:ext cx="8229600" cy="320040"/>
          </a:xfrm>
          <a:prstGeom prst="rect">
            <a:avLst/>
          </a:prstGeom>
          <a:noFill/>
          <a:ln/>
        </p:spPr>
        <p:txBody>
          <a:bodyPr wrap="square" rtlCol="0" anchor="ctr"/>
          <a:lstStyle/>
          <a:p>
            <a:pPr indent="0" marL="0">
              <a:buNone/>
            </a:pPr>
            <a:r>
              <a:rPr lang="en-US" sz="1300" dirty="0">
                <a:solidFill>
                  <a:srgbClr val="888888"/>
                </a:solidFill>
                <a:latin typeface="Calibri" pitchFamily="34" charset="0"/>
                <a:ea typeface="Calibri" pitchFamily="34" charset="-122"/>
                <a:cs typeface="Calibri" pitchFamily="34" charset="-120"/>
              </a:rPr>
              <a:t>AET 3D Modeling &amp; Texturing  ·  UT Austin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Where We Are in the Pipeline</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920240"/>
            <a:ext cx="1325880" cy="502920"/>
          </a:xfrm>
          <a:prstGeom prst="rect">
            <a:avLst/>
          </a:prstGeom>
          <a:solidFill>
            <a:srgbClr val="EDE8DF"/>
          </a:solidFill>
          <a:ln/>
        </p:spPr>
      </p:sp>
      <p:sp>
        <p:nvSpPr>
          <p:cNvPr id="6" name="Text 4"/>
          <p:cNvSpPr/>
          <p:nvPr/>
        </p:nvSpPr>
        <p:spPr>
          <a:xfrm>
            <a:off x="594360" y="1920240"/>
            <a:ext cx="1325880" cy="502920"/>
          </a:xfrm>
          <a:prstGeom prst="rect">
            <a:avLst/>
          </a:prstGeom>
          <a:noFill/>
          <a:ln/>
        </p:spPr>
        <p:txBody>
          <a:bodyPr wrap="square"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Reference</a:t>
            </a:r>
            <a:endParaRPr lang="en-US" sz="1100" dirty="0"/>
          </a:p>
        </p:txBody>
      </p:sp>
      <p:sp>
        <p:nvSpPr>
          <p:cNvPr id="7" name="Shape 5"/>
          <p:cNvSpPr/>
          <p:nvPr/>
        </p:nvSpPr>
        <p:spPr>
          <a:xfrm>
            <a:off x="1975104" y="1920240"/>
            <a:ext cx="1325880" cy="502920"/>
          </a:xfrm>
          <a:prstGeom prst="rect">
            <a:avLst/>
          </a:prstGeom>
          <a:solidFill>
            <a:srgbClr val="EDE8DF"/>
          </a:solidFill>
          <a:ln/>
        </p:spPr>
      </p:sp>
      <p:sp>
        <p:nvSpPr>
          <p:cNvPr id="8" name="Text 6"/>
          <p:cNvSpPr/>
          <p:nvPr/>
        </p:nvSpPr>
        <p:spPr>
          <a:xfrm>
            <a:off x="1975104" y="1920240"/>
            <a:ext cx="1325880" cy="502920"/>
          </a:xfrm>
          <a:prstGeom prst="rect">
            <a:avLst/>
          </a:prstGeom>
          <a:noFill/>
          <a:ln/>
        </p:spPr>
        <p:txBody>
          <a:bodyPr wrap="square"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Blockout</a:t>
            </a:r>
            <a:endParaRPr lang="en-US" sz="1100" dirty="0"/>
          </a:p>
        </p:txBody>
      </p:sp>
      <p:sp>
        <p:nvSpPr>
          <p:cNvPr id="9" name="Shape 7"/>
          <p:cNvSpPr/>
          <p:nvPr/>
        </p:nvSpPr>
        <p:spPr>
          <a:xfrm>
            <a:off x="3355848" y="1920240"/>
            <a:ext cx="1325880" cy="502920"/>
          </a:xfrm>
          <a:prstGeom prst="rect">
            <a:avLst/>
          </a:prstGeom>
          <a:solidFill>
            <a:srgbClr val="EDE8DF"/>
          </a:solidFill>
          <a:ln/>
        </p:spPr>
      </p:sp>
      <p:sp>
        <p:nvSpPr>
          <p:cNvPr id="10" name="Text 8"/>
          <p:cNvSpPr/>
          <p:nvPr/>
        </p:nvSpPr>
        <p:spPr>
          <a:xfrm>
            <a:off x="3355848" y="1920240"/>
            <a:ext cx="1325880" cy="502920"/>
          </a:xfrm>
          <a:prstGeom prst="rect">
            <a:avLst/>
          </a:prstGeom>
          <a:noFill/>
          <a:ln/>
        </p:spPr>
        <p:txBody>
          <a:bodyPr wrap="square"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High Proxy</a:t>
            </a:r>
            <a:endParaRPr lang="en-US" sz="1100" dirty="0"/>
          </a:p>
        </p:txBody>
      </p:sp>
      <p:sp>
        <p:nvSpPr>
          <p:cNvPr id="11" name="Shape 9"/>
          <p:cNvSpPr/>
          <p:nvPr/>
        </p:nvSpPr>
        <p:spPr>
          <a:xfrm>
            <a:off x="4736592" y="1920240"/>
            <a:ext cx="1325880" cy="502920"/>
          </a:xfrm>
          <a:prstGeom prst="rect">
            <a:avLst/>
          </a:prstGeom>
          <a:solidFill>
            <a:srgbClr val="EDE8DF"/>
          </a:solidFill>
          <a:ln/>
        </p:spPr>
      </p:sp>
      <p:sp>
        <p:nvSpPr>
          <p:cNvPr id="12" name="Text 10"/>
          <p:cNvSpPr/>
          <p:nvPr/>
        </p:nvSpPr>
        <p:spPr>
          <a:xfrm>
            <a:off x="4736592" y="1920240"/>
            <a:ext cx="1325880" cy="502920"/>
          </a:xfrm>
          <a:prstGeom prst="rect">
            <a:avLst/>
          </a:prstGeom>
          <a:noFill/>
          <a:ln/>
        </p:spPr>
        <p:txBody>
          <a:bodyPr wrap="square"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High Poly</a:t>
            </a:r>
            <a:endParaRPr lang="en-US" sz="1100" dirty="0"/>
          </a:p>
        </p:txBody>
      </p:sp>
      <p:sp>
        <p:nvSpPr>
          <p:cNvPr id="13" name="Shape 11"/>
          <p:cNvSpPr/>
          <p:nvPr/>
        </p:nvSpPr>
        <p:spPr>
          <a:xfrm>
            <a:off x="6117336" y="1920240"/>
            <a:ext cx="1325880" cy="502920"/>
          </a:xfrm>
          <a:prstGeom prst="rect">
            <a:avLst/>
          </a:prstGeom>
          <a:solidFill>
            <a:srgbClr val="BF5700"/>
          </a:solidFill>
          <a:ln/>
        </p:spPr>
      </p:sp>
      <p:sp>
        <p:nvSpPr>
          <p:cNvPr id="14" name="Text 12"/>
          <p:cNvSpPr/>
          <p:nvPr/>
        </p:nvSpPr>
        <p:spPr>
          <a:xfrm>
            <a:off x="6117336" y="1920240"/>
            <a:ext cx="132588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Low Poly</a:t>
            </a:r>
            <a:endParaRPr lang="en-US" sz="1100" dirty="0"/>
          </a:p>
        </p:txBody>
      </p:sp>
      <p:sp>
        <p:nvSpPr>
          <p:cNvPr id="15" name="Text 13"/>
          <p:cNvSpPr/>
          <p:nvPr/>
        </p:nvSpPr>
        <p:spPr>
          <a:xfrm>
            <a:off x="6117336" y="2496312"/>
            <a:ext cx="1325880" cy="274320"/>
          </a:xfrm>
          <a:prstGeom prst="rect">
            <a:avLst/>
          </a:prstGeom>
          <a:noFill/>
          <a:ln/>
        </p:spPr>
        <p:txBody>
          <a:bodyPr wrap="square" rtlCol="0" anchor="ctr"/>
          <a:lstStyle/>
          <a:p>
            <a:pPr algn="ctr" indent="0" marL="0">
              <a:buNone/>
            </a:pPr>
            <a:r>
              <a:rPr lang="en-US" sz="1000" i="1" dirty="0">
                <a:solidFill>
                  <a:srgbClr val="BF5700"/>
                </a:solidFill>
                <a:latin typeface="Calibri" pitchFamily="34" charset="0"/>
                <a:ea typeface="Calibri" pitchFamily="34" charset="-122"/>
                <a:cs typeface="Calibri" pitchFamily="34" charset="-120"/>
              </a:rPr>
              <a:t>▼ you are here</a:t>
            </a:r>
            <a:endParaRPr lang="en-US" sz="1000" dirty="0"/>
          </a:p>
        </p:txBody>
      </p:sp>
      <p:sp>
        <p:nvSpPr>
          <p:cNvPr id="16" name="Shape 14"/>
          <p:cNvSpPr/>
          <p:nvPr/>
        </p:nvSpPr>
        <p:spPr>
          <a:xfrm>
            <a:off x="7498080" y="1920240"/>
            <a:ext cx="1325880" cy="502920"/>
          </a:xfrm>
          <a:prstGeom prst="rect">
            <a:avLst/>
          </a:prstGeom>
          <a:solidFill>
            <a:srgbClr val="BF5700"/>
          </a:solidFill>
          <a:ln/>
        </p:spPr>
      </p:sp>
      <p:sp>
        <p:nvSpPr>
          <p:cNvPr id="17" name="Text 15"/>
          <p:cNvSpPr/>
          <p:nvPr/>
        </p:nvSpPr>
        <p:spPr>
          <a:xfrm>
            <a:off x="7498080" y="1920240"/>
            <a:ext cx="132588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UVs</a:t>
            </a:r>
            <a:endParaRPr lang="en-US" sz="1100" dirty="0"/>
          </a:p>
        </p:txBody>
      </p:sp>
      <p:sp>
        <p:nvSpPr>
          <p:cNvPr id="18" name="Text 16"/>
          <p:cNvSpPr/>
          <p:nvPr/>
        </p:nvSpPr>
        <p:spPr>
          <a:xfrm>
            <a:off x="7498080" y="2496312"/>
            <a:ext cx="1325880" cy="274320"/>
          </a:xfrm>
          <a:prstGeom prst="rect">
            <a:avLst/>
          </a:prstGeom>
          <a:noFill/>
          <a:ln/>
        </p:spPr>
        <p:txBody>
          <a:bodyPr wrap="square" rtlCol="0" anchor="ctr"/>
          <a:lstStyle/>
          <a:p>
            <a:pPr algn="ctr" indent="0" marL="0">
              <a:buNone/>
            </a:pPr>
            <a:r>
              <a:rPr lang="en-US" sz="1000" i="1" dirty="0">
                <a:solidFill>
                  <a:srgbClr val="BF5700"/>
                </a:solidFill>
                <a:latin typeface="Calibri" pitchFamily="34" charset="0"/>
                <a:ea typeface="Calibri" pitchFamily="34" charset="-122"/>
                <a:cs typeface="Calibri" pitchFamily="34" charset="-120"/>
              </a:rPr>
              <a:t>▼ you are here</a:t>
            </a:r>
            <a:endParaRPr lang="en-US" sz="1000" dirty="0"/>
          </a:p>
        </p:txBody>
      </p:sp>
      <p:sp>
        <p:nvSpPr>
          <p:cNvPr id="19" name="Shape 17"/>
          <p:cNvSpPr/>
          <p:nvPr/>
        </p:nvSpPr>
        <p:spPr>
          <a:xfrm>
            <a:off x="8878824" y="1920240"/>
            <a:ext cx="1325880" cy="502920"/>
          </a:xfrm>
          <a:prstGeom prst="rect">
            <a:avLst/>
          </a:prstGeom>
          <a:solidFill>
            <a:srgbClr val="EDE8DF"/>
          </a:solidFill>
          <a:ln/>
        </p:spPr>
      </p:sp>
      <p:sp>
        <p:nvSpPr>
          <p:cNvPr id="20" name="Text 18"/>
          <p:cNvSpPr/>
          <p:nvPr/>
        </p:nvSpPr>
        <p:spPr>
          <a:xfrm>
            <a:off x="8878824" y="1920240"/>
            <a:ext cx="1325880" cy="502920"/>
          </a:xfrm>
          <a:prstGeom prst="rect">
            <a:avLst/>
          </a:prstGeom>
          <a:noFill/>
          <a:ln/>
        </p:spPr>
        <p:txBody>
          <a:bodyPr wrap="square"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Bake</a:t>
            </a:r>
            <a:endParaRPr lang="en-US" sz="1100" dirty="0"/>
          </a:p>
        </p:txBody>
      </p:sp>
      <p:sp>
        <p:nvSpPr>
          <p:cNvPr id="21" name="Shape 19"/>
          <p:cNvSpPr/>
          <p:nvPr/>
        </p:nvSpPr>
        <p:spPr>
          <a:xfrm>
            <a:off x="10259568" y="1920240"/>
            <a:ext cx="1325880" cy="502920"/>
          </a:xfrm>
          <a:prstGeom prst="rect">
            <a:avLst/>
          </a:prstGeom>
          <a:solidFill>
            <a:srgbClr val="EDE8DF"/>
          </a:solidFill>
          <a:ln/>
        </p:spPr>
      </p:sp>
      <p:sp>
        <p:nvSpPr>
          <p:cNvPr id="22" name="Text 20"/>
          <p:cNvSpPr/>
          <p:nvPr/>
        </p:nvSpPr>
        <p:spPr>
          <a:xfrm>
            <a:off x="10259568" y="1920240"/>
            <a:ext cx="1325880" cy="502920"/>
          </a:xfrm>
          <a:prstGeom prst="rect">
            <a:avLst/>
          </a:prstGeom>
          <a:noFill/>
          <a:ln/>
        </p:spPr>
        <p:txBody>
          <a:bodyPr wrap="square"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Texture</a:t>
            </a:r>
            <a:endParaRPr lang="en-US" sz="1100" dirty="0"/>
          </a:p>
        </p:txBody>
      </p:sp>
      <p:sp>
        <p:nvSpPr>
          <p:cNvPr id="23" name="Text 21"/>
          <p:cNvSpPr/>
          <p:nvPr/>
        </p:nvSpPr>
        <p:spPr>
          <a:xfrm>
            <a:off x="594360" y="3200400"/>
            <a:ext cx="10972800" cy="365760"/>
          </a:xfrm>
          <a:prstGeom prst="rect">
            <a:avLst/>
          </a:prstGeom>
          <a:noFill/>
          <a:ln/>
        </p:spPr>
        <p:txBody>
          <a:bodyPr wrap="square"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The high poly is the detail source. The low poly is what ships.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What Is a Low Poly?</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280160"/>
            <a:ext cx="10607040" cy="1234440"/>
          </a:xfrm>
          <a:prstGeom prst="rect">
            <a:avLst/>
          </a:prstGeom>
          <a:solidFill>
            <a:srgbClr val="FDFAF4"/>
          </a:solidFill>
          <a:ln w="9525">
            <a:solidFill>
              <a:srgbClr val="EDE8DF"/>
            </a:solidFill>
            <a:prstDash val="solid"/>
          </a:ln>
        </p:spPr>
      </p:sp>
      <p:sp>
        <p:nvSpPr>
          <p:cNvPr id="6" name="Shape 4"/>
          <p:cNvSpPr/>
          <p:nvPr/>
        </p:nvSpPr>
        <p:spPr>
          <a:xfrm>
            <a:off x="594360" y="1280160"/>
            <a:ext cx="45720" cy="1234440"/>
          </a:xfrm>
          <a:prstGeom prst="rect">
            <a:avLst/>
          </a:prstGeom>
          <a:solidFill>
            <a:srgbClr val="BF5700"/>
          </a:solidFill>
          <a:ln/>
        </p:spPr>
      </p:sp>
      <p:sp>
        <p:nvSpPr>
          <p:cNvPr id="7" name="Text 5"/>
          <p:cNvSpPr/>
          <p:nvPr/>
        </p:nvSpPr>
        <p:spPr>
          <a:xfrm>
            <a:off x="758952" y="1371600"/>
            <a:ext cx="10378440" cy="274320"/>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The game engine mesh</a:t>
            </a:r>
            <a:endParaRPr lang="en-US" sz="1400" dirty="0"/>
          </a:p>
        </p:txBody>
      </p:sp>
      <p:sp>
        <p:nvSpPr>
          <p:cNvPr id="8" name="Text 6"/>
          <p:cNvSpPr/>
          <p:nvPr/>
        </p:nvSpPr>
        <p:spPr>
          <a:xfrm>
            <a:off x="758952" y="1664208"/>
            <a:ext cx="10378440" cy="777240"/>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The actual model that runs in real-time. Optimized for performance. This is what the player sees.</a:t>
            </a:r>
            <a:endParaRPr lang="en-US" sz="1200" dirty="0"/>
          </a:p>
        </p:txBody>
      </p:sp>
      <p:sp>
        <p:nvSpPr>
          <p:cNvPr id="9" name="Shape 7"/>
          <p:cNvSpPr/>
          <p:nvPr/>
        </p:nvSpPr>
        <p:spPr>
          <a:xfrm>
            <a:off x="594360" y="2715768"/>
            <a:ext cx="10607040" cy="1234440"/>
          </a:xfrm>
          <a:prstGeom prst="rect">
            <a:avLst/>
          </a:prstGeom>
          <a:solidFill>
            <a:srgbClr val="FDFAF4"/>
          </a:solidFill>
          <a:ln w="9525">
            <a:solidFill>
              <a:srgbClr val="EDE8DF"/>
            </a:solidFill>
            <a:prstDash val="solid"/>
          </a:ln>
        </p:spPr>
      </p:sp>
      <p:sp>
        <p:nvSpPr>
          <p:cNvPr id="10" name="Shape 8"/>
          <p:cNvSpPr/>
          <p:nvPr/>
        </p:nvSpPr>
        <p:spPr>
          <a:xfrm>
            <a:off x="594360" y="2715768"/>
            <a:ext cx="45720" cy="1234440"/>
          </a:xfrm>
          <a:prstGeom prst="rect">
            <a:avLst/>
          </a:prstGeom>
          <a:solidFill>
            <a:srgbClr val="BF5700"/>
          </a:solidFill>
          <a:ln/>
        </p:spPr>
      </p:sp>
      <p:sp>
        <p:nvSpPr>
          <p:cNvPr id="11" name="Text 9"/>
          <p:cNvSpPr/>
          <p:nvPr/>
        </p:nvSpPr>
        <p:spPr>
          <a:xfrm>
            <a:off x="758952" y="2807208"/>
            <a:ext cx="10378440" cy="274320"/>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Matched to the high poly</a:t>
            </a:r>
            <a:endParaRPr lang="en-US" sz="1400" dirty="0"/>
          </a:p>
        </p:txBody>
      </p:sp>
      <p:sp>
        <p:nvSpPr>
          <p:cNvPr id="12" name="Text 10"/>
          <p:cNvSpPr/>
          <p:nvPr/>
        </p:nvSpPr>
        <p:spPr>
          <a:xfrm>
            <a:off x="758952" y="3099816"/>
            <a:ext cx="10378440" cy="777240"/>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The low poly silhouette should closely follow the high poly. The closer the match, the cleaner the bake.</a:t>
            </a:r>
            <a:endParaRPr lang="en-US" sz="1200" dirty="0"/>
          </a:p>
        </p:txBody>
      </p:sp>
      <p:sp>
        <p:nvSpPr>
          <p:cNvPr id="13" name="Shape 11"/>
          <p:cNvSpPr/>
          <p:nvPr/>
        </p:nvSpPr>
        <p:spPr>
          <a:xfrm>
            <a:off x="594360" y="4151376"/>
            <a:ext cx="10607040" cy="1234440"/>
          </a:xfrm>
          <a:prstGeom prst="rect">
            <a:avLst/>
          </a:prstGeom>
          <a:solidFill>
            <a:srgbClr val="FDFAF4"/>
          </a:solidFill>
          <a:ln w="9525">
            <a:solidFill>
              <a:srgbClr val="EDE8DF"/>
            </a:solidFill>
            <a:prstDash val="solid"/>
          </a:ln>
        </p:spPr>
      </p:sp>
      <p:sp>
        <p:nvSpPr>
          <p:cNvPr id="14" name="Shape 12"/>
          <p:cNvSpPr/>
          <p:nvPr/>
        </p:nvSpPr>
        <p:spPr>
          <a:xfrm>
            <a:off x="594360" y="4151376"/>
            <a:ext cx="45720" cy="1234440"/>
          </a:xfrm>
          <a:prstGeom prst="rect">
            <a:avLst/>
          </a:prstGeom>
          <a:solidFill>
            <a:srgbClr val="BF5700"/>
          </a:solidFill>
          <a:ln/>
        </p:spPr>
      </p:sp>
      <p:sp>
        <p:nvSpPr>
          <p:cNvPr id="15" name="Text 13"/>
          <p:cNvSpPr/>
          <p:nvPr/>
        </p:nvSpPr>
        <p:spPr>
          <a:xfrm>
            <a:off x="758952" y="4242816"/>
            <a:ext cx="10378440" cy="274320"/>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Triangles are fine here</a:t>
            </a:r>
            <a:endParaRPr lang="en-US" sz="1400" dirty="0"/>
          </a:p>
        </p:txBody>
      </p:sp>
      <p:sp>
        <p:nvSpPr>
          <p:cNvPr id="16" name="Text 14"/>
          <p:cNvSpPr/>
          <p:nvPr/>
        </p:nvSpPr>
        <p:spPr>
          <a:xfrm>
            <a:off x="758952" y="4535424"/>
            <a:ext cx="10378440" cy="777240"/>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Unlike high poly (quads for SubD), the low poly will be triangulated on export. Focus on efficient triangle placement, not quad flow.</a:t>
            </a:r>
            <a:endParaRPr lang="en-US" sz="1200" dirty="0"/>
          </a:p>
        </p:txBody>
      </p:sp>
      <p:sp>
        <p:nvSpPr>
          <p:cNvPr id="17" name="Shape 15"/>
          <p:cNvSpPr/>
          <p:nvPr/>
        </p:nvSpPr>
        <p:spPr>
          <a:xfrm>
            <a:off x="594360" y="5586984"/>
            <a:ext cx="10607040" cy="1234440"/>
          </a:xfrm>
          <a:prstGeom prst="rect">
            <a:avLst/>
          </a:prstGeom>
          <a:solidFill>
            <a:srgbClr val="FDFAF4"/>
          </a:solidFill>
          <a:ln w="9525">
            <a:solidFill>
              <a:srgbClr val="EDE8DF"/>
            </a:solidFill>
            <a:prstDash val="solid"/>
          </a:ln>
        </p:spPr>
      </p:sp>
      <p:sp>
        <p:nvSpPr>
          <p:cNvPr id="18" name="Shape 16"/>
          <p:cNvSpPr/>
          <p:nvPr/>
        </p:nvSpPr>
        <p:spPr>
          <a:xfrm>
            <a:off x="594360" y="5586984"/>
            <a:ext cx="45720" cy="1234440"/>
          </a:xfrm>
          <a:prstGeom prst="rect">
            <a:avLst/>
          </a:prstGeom>
          <a:solidFill>
            <a:srgbClr val="BF5700"/>
          </a:solidFill>
          <a:ln/>
        </p:spPr>
      </p:sp>
      <p:sp>
        <p:nvSpPr>
          <p:cNvPr id="19" name="Text 17"/>
          <p:cNvSpPr/>
          <p:nvPr/>
        </p:nvSpPr>
        <p:spPr>
          <a:xfrm>
            <a:off x="758952" y="5678424"/>
            <a:ext cx="10378440" cy="274320"/>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Silhouette is everything</a:t>
            </a:r>
            <a:endParaRPr lang="en-US" sz="1400" dirty="0"/>
          </a:p>
        </p:txBody>
      </p:sp>
      <p:sp>
        <p:nvSpPr>
          <p:cNvPr id="20" name="Text 18"/>
          <p:cNvSpPr/>
          <p:nvPr/>
        </p:nvSpPr>
        <p:spPr>
          <a:xfrm>
            <a:off x="758952" y="5971032"/>
            <a:ext cx="10378440" cy="777240"/>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The normal map fakes surface detail but cannot change the outline. Every triangle should serve the silhouette or be removed.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Starting from the High Proxy</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234440"/>
            <a:ext cx="5303520" cy="402336"/>
          </a:xfrm>
          <a:prstGeom prst="rect">
            <a:avLst/>
          </a:prstGeom>
          <a:solidFill>
            <a:srgbClr val="BF5700"/>
          </a:solidFill>
          <a:ln/>
        </p:spPr>
      </p:sp>
      <p:sp>
        <p:nvSpPr>
          <p:cNvPr id="6" name="Text 4"/>
          <p:cNvSpPr/>
          <p:nvPr/>
        </p:nvSpPr>
        <p:spPr>
          <a:xfrm>
            <a:off x="685800" y="1234440"/>
            <a:ext cx="512064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DUPLICATE AND REDUCE</a:t>
            </a:r>
            <a:endParaRPr lang="en-US" sz="1300" dirty="0"/>
          </a:p>
        </p:txBody>
      </p:sp>
      <p:sp>
        <p:nvSpPr>
          <p:cNvPr id="7" name="Shape 5"/>
          <p:cNvSpPr/>
          <p:nvPr/>
        </p:nvSpPr>
        <p:spPr>
          <a:xfrm>
            <a:off x="594360" y="1636776"/>
            <a:ext cx="5303520" cy="4535424"/>
          </a:xfrm>
          <a:prstGeom prst="rect">
            <a:avLst/>
          </a:prstGeom>
          <a:solidFill>
            <a:srgbClr val="FDFAF4"/>
          </a:solidFill>
          <a:ln w="9525">
            <a:solidFill>
              <a:srgbClr val="EDE8DF"/>
            </a:solidFill>
            <a:prstDash val="solid"/>
          </a:ln>
        </p:spPr>
      </p:sp>
      <p:sp>
        <p:nvSpPr>
          <p:cNvPr id="8" name="Text 6"/>
          <p:cNvSpPr/>
          <p:nvPr/>
        </p:nvSpPr>
        <p:spPr>
          <a:xfrm>
            <a:off x="795528" y="1801368"/>
            <a:ext cx="4983480" cy="4306824"/>
          </a:xfrm>
          <a:prstGeom prst="rect">
            <a:avLst/>
          </a:prstGeom>
          <a:noFill/>
          <a:ln/>
        </p:spPr>
        <p:txBody>
          <a:bodyPr wrap="square" rtlCol="0" anchor="t"/>
          <a:lstStyle/>
          <a:p>
            <a:pPr>
              <a:spcAft>
                <a:spcPts val="600"/>
              </a:spcAft>
            </a:pPr>
            <a:r>
              <a:rPr lang="en-US" sz="1300" dirty="0">
                <a:solidFill>
                  <a:srgbClr val="2D2D2D"/>
                </a:solidFill>
                <a:latin typeface="Calibri" pitchFamily="34" charset="0"/>
                <a:ea typeface="Calibri" pitchFamily="34" charset="-122"/>
                <a:cs typeface="Calibri" pitchFamily="34" charset="-120"/>
              </a:rPr>
              <a:t>High proxy topology is already clean</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Proportions didn't change much during high poly</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Fastest path: duplicate, delete edges, clean up</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Good for most hard-surface props</a:t>
            </a:r>
            <a:endParaRPr lang="en-US" sz="1300" dirty="0"/>
          </a:p>
        </p:txBody>
      </p:sp>
      <p:sp>
        <p:nvSpPr>
          <p:cNvPr id="9" name="Shape 7"/>
          <p:cNvSpPr/>
          <p:nvPr/>
        </p:nvSpPr>
        <p:spPr>
          <a:xfrm>
            <a:off x="6263640" y="1234440"/>
            <a:ext cx="5303520" cy="402336"/>
          </a:xfrm>
          <a:prstGeom prst="rect">
            <a:avLst/>
          </a:prstGeom>
          <a:solidFill>
            <a:srgbClr val="6B6B6B"/>
          </a:solidFill>
          <a:ln/>
        </p:spPr>
      </p:sp>
      <p:sp>
        <p:nvSpPr>
          <p:cNvPr id="10" name="Text 8"/>
          <p:cNvSpPr/>
          <p:nvPr/>
        </p:nvSpPr>
        <p:spPr>
          <a:xfrm>
            <a:off x="6355080" y="1234440"/>
            <a:ext cx="512064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REBUILD FROM SCRATCH</a:t>
            </a:r>
            <a:endParaRPr lang="en-US" sz="1300" dirty="0"/>
          </a:p>
        </p:txBody>
      </p:sp>
      <p:sp>
        <p:nvSpPr>
          <p:cNvPr id="11" name="Shape 9"/>
          <p:cNvSpPr/>
          <p:nvPr/>
        </p:nvSpPr>
        <p:spPr>
          <a:xfrm>
            <a:off x="6263640" y="1636776"/>
            <a:ext cx="5303520" cy="4535424"/>
          </a:xfrm>
          <a:prstGeom prst="rect">
            <a:avLst/>
          </a:prstGeom>
          <a:solidFill>
            <a:srgbClr val="FDFAF4"/>
          </a:solidFill>
          <a:ln w="9525">
            <a:solidFill>
              <a:srgbClr val="EDE8DF"/>
            </a:solidFill>
            <a:prstDash val="solid"/>
          </a:ln>
        </p:spPr>
      </p:sp>
      <p:sp>
        <p:nvSpPr>
          <p:cNvPr id="12" name="Text 10"/>
          <p:cNvSpPr/>
          <p:nvPr/>
        </p:nvSpPr>
        <p:spPr>
          <a:xfrm>
            <a:off x="6464808" y="1801368"/>
            <a:ext cx="4983480" cy="4306824"/>
          </a:xfrm>
          <a:prstGeom prst="rect">
            <a:avLst/>
          </a:prstGeom>
          <a:noFill/>
          <a:ln/>
        </p:spPr>
        <p:txBody>
          <a:bodyPr wrap="square" rtlCol="0" anchor="t"/>
          <a:lstStyle/>
          <a:p>
            <a:pPr>
              <a:spcAft>
                <a:spcPts val="600"/>
              </a:spcAft>
            </a:pPr>
            <a:r>
              <a:rPr lang="en-US" sz="1300" dirty="0">
                <a:solidFill>
                  <a:srgbClr val="2D2D2D"/>
                </a:solidFill>
                <a:latin typeface="Calibri" pitchFamily="34" charset="0"/>
                <a:ea typeface="Calibri" pitchFamily="34" charset="-122"/>
                <a:cs typeface="Calibri" pitchFamily="34" charset="-120"/>
              </a:rPr>
              <a:t>Proportions shifted significantly during high poly</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Proxy has messy topology causing UV or baking problems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Quad Draw lets you retopo directly on the high poly surface</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Better for organic forms or heavily reshaped meshes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Where Triangles Matter</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234440"/>
            <a:ext cx="5303520" cy="402336"/>
          </a:xfrm>
          <a:prstGeom prst="rect">
            <a:avLst/>
          </a:prstGeom>
          <a:solidFill>
            <a:srgbClr val="BF5700"/>
          </a:solidFill>
          <a:ln/>
        </p:spPr>
      </p:sp>
      <p:sp>
        <p:nvSpPr>
          <p:cNvPr id="6" name="Text 4"/>
          <p:cNvSpPr/>
          <p:nvPr/>
        </p:nvSpPr>
        <p:spPr>
          <a:xfrm>
            <a:off x="685800" y="1234440"/>
            <a:ext cx="512064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SPEND TRIANGLES</a:t>
            </a:r>
            <a:endParaRPr lang="en-US" sz="1300" dirty="0"/>
          </a:p>
        </p:txBody>
      </p:sp>
      <p:sp>
        <p:nvSpPr>
          <p:cNvPr id="7" name="Shape 5"/>
          <p:cNvSpPr/>
          <p:nvPr/>
        </p:nvSpPr>
        <p:spPr>
          <a:xfrm>
            <a:off x="594360" y="1636776"/>
            <a:ext cx="5303520" cy="4535424"/>
          </a:xfrm>
          <a:prstGeom prst="rect">
            <a:avLst/>
          </a:prstGeom>
          <a:solidFill>
            <a:srgbClr val="FDFAF4"/>
          </a:solidFill>
          <a:ln w="9525">
            <a:solidFill>
              <a:srgbClr val="EDE8DF"/>
            </a:solidFill>
            <a:prstDash val="solid"/>
          </a:ln>
        </p:spPr>
      </p:sp>
      <p:sp>
        <p:nvSpPr>
          <p:cNvPr id="8" name="Text 6"/>
          <p:cNvSpPr/>
          <p:nvPr/>
        </p:nvSpPr>
        <p:spPr>
          <a:xfrm>
            <a:off x="795528" y="1801368"/>
            <a:ext cx="4983480" cy="4306824"/>
          </a:xfrm>
          <a:prstGeom prst="rect">
            <a:avLst/>
          </a:prstGeom>
          <a:noFill/>
          <a:ln/>
        </p:spPr>
        <p:txBody>
          <a:bodyPr wrap="square" rtlCol="0" anchor="t"/>
          <a:lstStyle/>
          <a:p>
            <a:pPr>
              <a:spcAft>
                <a:spcPts val="600"/>
              </a:spcAft>
            </a:pPr>
            <a:r>
              <a:rPr lang="en-US" sz="1300" dirty="0">
                <a:solidFill>
                  <a:srgbClr val="2D2D2D"/>
                </a:solidFill>
                <a:latin typeface="Calibri" pitchFamily="34" charset="0"/>
                <a:ea typeface="Calibri" pitchFamily="34" charset="-122"/>
                <a:cs typeface="Calibri" pitchFamily="34" charset="-120"/>
              </a:rPr>
              <a:t>Silhouette edges the camera reads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Curved surfaces that define the form</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Transitions between major parts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Any edge that changes the outline</a:t>
            </a:r>
            <a:endParaRPr lang="en-US" sz="1300" dirty="0"/>
          </a:p>
        </p:txBody>
      </p:sp>
      <p:sp>
        <p:nvSpPr>
          <p:cNvPr id="9" name="Shape 7"/>
          <p:cNvSpPr/>
          <p:nvPr/>
        </p:nvSpPr>
        <p:spPr>
          <a:xfrm>
            <a:off x="6263640" y="1234440"/>
            <a:ext cx="5303520" cy="402336"/>
          </a:xfrm>
          <a:prstGeom prst="rect">
            <a:avLst/>
          </a:prstGeom>
          <a:solidFill>
            <a:srgbClr val="6B6B6B"/>
          </a:solidFill>
          <a:ln/>
        </p:spPr>
      </p:sp>
      <p:sp>
        <p:nvSpPr>
          <p:cNvPr id="10" name="Text 8"/>
          <p:cNvSpPr/>
          <p:nvPr/>
        </p:nvSpPr>
        <p:spPr>
          <a:xfrm>
            <a:off x="6355080" y="1234440"/>
            <a:ext cx="512064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SAVE TRIANGLES</a:t>
            </a:r>
            <a:endParaRPr lang="en-US" sz="1300" dirty="0"/>
          </a:p>
        </p:txBody>
      </p:sp>
      <p:sp>
        <p:nvSpPr>
          <p:cNvPr id="11" name="Shape 9"/>
          <p:cNvSpPr/>
          <p:nvPr/>
        </p:nvSpPr>
        <p:spPr>
          <a:xfrm>
            <a:off x="6263640" y="1636776"/>
            <a:ext cx="5303520" cy="4535424"/>
          </a:xfrm>
          <a:prstGeom prst="rect">
            <a:avLst/>
          </a:prstGeom>
          <a:solidFill>
            <a:srgbClr val="FDFAF4"/>
          </a:solidFill>
          <a:ln w="9525">
            <a:solidFill>
              <a:srgbClr val="EDE8DF"/>
            </a:solidFill>
            <a:prstDash val="solid"/>
          </a:ln>
        </p:spPr>
      </p:sp>
      <p:sp>
        <p:nvSpPr>
          <p:cNvPr id="12" name="Text 10"/>
          <p:cNvSpPr/>
          <p:nvPr/>
        </p:nvSpPr>
        <p:spPr>
          <a:xfrm>
            <a:off x="6464808" y="1801368"/>
            <a:ext cx="4983480" cy="4306824"/>
          </a:xfrm>
          <a:prstGeom prst="rect">
            <a:avLst/>
          </a:prstGeom>
          <a:noFill/>
          <a:ln/>
        </p:spPr>
        <p:txBody>
          <a:bodyPr wrap="square" rtlCol="0" anchor="t"/>
          <a:lstStyle/>
          <a:p>
            <a:pPr>
              <a:spcAft>
                <a:spcPts val="600"/>
              </a:spcAft>
            </a:pPr>
            <a:r>
              <a:rPr lang="en-US" sz="1300" dirty="0">
                <a:solidFill>
                  <a:srgbClr val="2D2D2D"/>
                </a:solidFill>
                <a:latin typeface="Calibri" pitchFamily="34" charset="0"/>
                <a:ea typeface="Calibri" pitchFamily="34" charset="-122"/>
                <a:cs typeface="Calibri" pitchFamily="34" charset="-120"/>
              </a:rPr>
              <a:t>Flat planes (one quad is enough)</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Faces hidden by other geometry</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Bottoms of props sitting on surfaces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Backs of wall-mounted objects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Interior faces the player never sees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Smoothing Groups and Hard Edges</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234440"/>
            <a:ext cx="5303520" cy="402336"/>
          </a:xfrm>
          <a:prstGeom prst="rect">
            <a:avLst/>
          </a:prstGeom>
          <a:solidFill>
            <a:srgbClr val="BF5700"/>
          </a:solidFill>
          <a:ln/>
        </p:spPr>
      </p:sp>
      <p:sp>
        <p:nvSpPr>
          <p:cNvPr id="6" name="Text 4"/>
          <p:cNvSpPr/>
          <p:nvPr/>
        </p:nvSpPr>
        <p:spPr>
          <a:xfrm>
            <a:off x="685800" y="1234440"/>
            <a:ext cx="512064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SOFT EDGE</a:t>
            </a:r>
            <a:endParaRPr lang="en-US" sz="1300" dirty="0"/>
          </a:p>
        </p:txBody>
      </p:sp>
      <p:sp>
        <p:nvSpPr>
          <p:cNvPr id="7" name="Shape 5"/>
          <p:cNvSpPr/>
          <p:nvPr/>
        </p:nvSpPr>
        <p:spPr>
          <a:xfrm>
            <a:off x="594360" y="1636776"/>
            <a:ext cx="5303520" cy="4535424"/>
          </a:xfrm>
          <a:prstGeom prst="rect">
            <a:avLst/>
          </a:prstGeom>
          <a:solidFill>
            <a:srgbClr val="FDFAF4"/>
          </a:solidFill>
          <a:ln w="9525">
            <a:solidFill>
              <a:srgbClr val="EDE8DF"/>
            </a:solidFill>
            <a:prstDash val="solid"/>
          </a:ln>
        </p:spPr>
      </p:sp>
      <p:sp>
        <p:nvSpPr>
          <p:cNvPr id="8" name="Text 6"/>
          <p:cNvSpPr/>
          <p:nvPr/>
        </p:nvSpPr>
        <p:spPr>
          <a:xfrm>
            <a:off x="795528" y="1801368"/>
            <a:ext cx="4983480" cy="4306824"/>
          </a:xfrm>
          <a:prstGeom prst="rect">
            <a:avLst/>
          </a:prstGeom>
          <a:noFill/>
          <a:ln/>
        </p:spPr>
        <p:txBody>
          <a:bodyPr wrap="square" rtlCol="0" anchor="t"/>
          <a:lstStyle/>
          <a:p>
            <a:pPr>
              <a:spcAft>
                <a:spcPts val="600"/>
              </a:spcAft>
            </a:pPr>
            <a:r>
              <a:rPr lang="en-US" sz="1300" dirty="0">
                <a:solidFill>
                  <a:srgbClr val="2D2D2D"/>
                </a:solidFill>
                <a:latin typeface="Calibri" pitchFamily="34" charset="0"/>
                <a:ea typeface="Calibri" pitchFamily="34" charset="-122"/>
                <a:cs typeface="Calibri" pitchFamily="34" charset="-120"/>
              </a:rPr>
              <a:t>Normals blend smoothly across the edge</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Surface reads as one continuous curve</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Use on rounded, continuous surfaces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Default state in Maya</a:t>
            </a:r>
            <a:endParaRPr lang="en-US" sz="1300" dirty="0"/>
          </a:p>
        </p:txBody>
      </p:sp>
      <p:sp>
        <p:nvSpPr>
          <p:cNvPr id="9" name="Shape 7"/>
          <p:cNvSpPr/>
          <p:nvPr/>
        </p:nvSpPr>
        <p:spPr>
          <a:xfrm>
            <a:off x="6263640" y="1234440"/>
            <a:ext cx="5303520" cy="402336"/>
          </a:xfrm>
          <a:prstGeom prst="rect">
            <a:avLst/>
          </a:prstGeom>
          <a:solidFill>
            <a:srgbClr val="6B6B6B"/>
          </a:solidFill>
          <a:ln/>
        </p:spPr>
      </p:sp>
      <p:sp>
        <p:nvSpPr>
          <p:cNvPr id="10" name="Text 8"/>
          <p:cNvSpPr/>
          <p:nvPr/>
        </p:nvSpPr>
        <p:spPr>
          <a:xfrm>
            <a:off x="6355080" y="1234440"/>
            <a:ext cx="512064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HARD EDGE</a:t>
            </a:r>
            <a:endParaRPr lang="en-US" sz="1300" dirty="0"/>
          </a:p>
        </p:txBody>
      </p:sp>
      <p:sp>
        <p:nvSpPr>
          <p:cNvPr id="11" name="Shape 9"/>
          <p:cNvSpPr/>
          <p:nvPr/>
        </p:nvSpPr>
        <p:spPr>
          <a:xfrm>
            <a:off x="6263640" y="1636776"/>
            <a:ext cx="5303520" cy="4535424"/>
          </a:xfrm>
          <a:prstGeom prst="rect">
            <a:avLst/>
          </a:prstGeom>
          <a:solidFill>
            <a:srgbClr val="FDFAF4"/>
          </a:solidFill>
          <a:ln w="9525">
            <a:solidFill>
              <a:srgbClr val="EDE8DF"/>
            </a:solidFill>
            <a:prstDash val="solid"/>
          </a:ln>
        </p:spPr>
      </p:sp>
      <p:sp>
        <p:nvSpPr>
          <p:cNvPr id="12" name="Text 10"/>
          <p:cNvSpPr/>
          <p:nvPr/>
        </p:nvSpPr>
        <p:spPr>
          <a:xfrm>
            <a:off x="6464808" y="1801368"/>
            <a:ext cx="4983480" cy="4306824"/>
          </a:xfrm>
          <a:prstGeom prst="rect">
            <a:avLst/>
          </a:prstGeom>
          <a:noFill/>
          <a:ln/>
        </p:spPr>
        <p:txBody>
          <a:bodyPr wrap="square" rtlCol="0" anchor="t"/>
          <a:lstStyle/>
          <a:p>
            <a:pPr>
              <a:spcAft>
                <a:spcPts val="600"/>
              </a:spcAft>
            </a:pPr>
            <a:r>
              <a:rPr lang="en-US" sz="1300" dirty="0">
                <a:solidFill>
                  <a:srgbClr val="2D2D2D"/>
                </a:solidFill>
                <a:latin typeface="Calibri" pitchFamily="34" charset="0"/>
                <a:ea typeface="Calibri" pitchFamily="34" charset="-122"/>
                <a:cs typeface="Calibri" pitchFamily="34" charset="-120"/>
              </a:rPr>
              <a:t>Normals split at the edge</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Creates a visible shading break</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Use at sharp corners, panel seams, material breaks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Must have a matching UV seam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Hard Edges and UV Seams</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325880"/>
            <a:ext cx="10607040" cy="1417320"/>
          </a:xfrm>
          <a:prstGeom prst="rect">
            <a:avLst/>
          </a:prstGeom>
          <a:solidFill>
            <a:srgbClr val="FDFAF4"/>
          </a:solidFill>
          <a:ln w="9525">
            <a:solidFill>
              <a:srgbClr val="EDE8DF"/>
            </a:solidFill>
            <a:prstDash val="solid"/>
          </a:ln>
        </p:spPr>
      </p:sp>
      <p:sp>
        <p:nvSpPr>
          <p:cNvPr id="6" name="Shape 4"/>
          <p:cNvSpPr/>
          <p:nvPr/>
        </p:nvSpPr>
        <p:spPr>
          <a:xfrm>
            <a:off x="594360" y="1325880"/>
            <a:ext cx="45720" cy="1417320"/>
          </a:xfrm>
          <a:prstGeom prst="rect">
            <a:avLst/>
          </a:prstGeom>
          <a:solidFill>
            <a:srgbClr val="BF5700"/>
          </a:solidFill>
          <a:ln/>
        </p:spPr>
      </p:sp>
      <p:sp>
        <p:nvSpPr>
          <p:cNvPr id="7" name="Text 5"/>
          <p:cNvSpPr/>
          <p:nvPr/>
        </p:nvSpPr>
        <p:spPr>
          <a:xfrm>
            <a:off x="731520" y="1417320"/>
            <a:ext cx="1005840" cy="1234440"/>
          </a:xfrm>
          <a:prstGeom prst="rect">
            <a:avLst/>
          </a:prstGeom>
          <a:noFill/>
          <a:ln/>
        </p:spPr>
        <p:txBody>
          <a:bodyPr wrap="square" rtlCol="0" anchor="ctr"/>
          <a:lstStyle/>
          <a:p>
            <a:pPr indent="0" marL="0">
              <a:buNone/>
            </a:pPr>
            <a:r>
              <a:rPr lang="en-US" sz="4200" b="1" dirty="0">
                <a:solidFill>
                  <a:srgbClr val="EDE8DF"/>
                </a:solidFill>
                <a:latin typeface="Georgia" pitchFamily="34" charset="0"/>
                <a:ea typeface="Georgia" pitchFamily="34" charset="-122"/>
                <a:cs typeface="Georgia" pitchFamily="34" charset="-120"/>
              </a:rPr>
              <a:t>01</a:t>
            </a:r>
            <a:endParaRPr lang="en-US" sz="4200" dirty="0"/>
          </a:p>
        </p:txBody>
      </p:sp>
      <p:sp>
        <p:nvSpPr>
          <p:cNvPr id="8" name="Text 6"/>
          <p:cNvSpPr/>
          <p:nvPr/>
        </p:nvSpPr>
        <p:spPr>
          <a:xfrm>
            <a:off x="1783080" y="1453896"/>
            <a:ext cx="9052560" cy="347472"/>
          </a:xfrm>
          <a:prstGeom prst="rect">
            <a:avLst/>
          </a:prstGeom>
          <a:noFill/>
          <a:ln/>
        </p:spPr>
        <p:txBody>
          <a:bodyPr wrap="square" rtlCol="0" anchor="ctr"/>
          <a:lstStyle/>
          <a:p>
            <a:pPr indent="0" marL="0">
              <a:buNone/>
            </a:pPr>
            <a:r>
              <a:rPr lang="en-US" sz="1500" b="1" dirty="0">
                <a:solidFill>
                  <a:srgbClr val="BF5700"/>
                </a:solidFill>
                <a:latin typeface="Georgia" pitchFamily="34" charset="0"/>
                <a:ea typeface="Georgia" pitchFamily="34" charset="-122"/>
                <a:cs typeface="Georgia" pitchFamily="34" charset="-120"/>
              </a:rPr>
              <a:t>The rule</a:t>
            </a:r>
            <a:endParaRPr lang="en-US" sz="1500" dirty="0"/>
          </a:p>
        </p:txBody>
      </p:sp>
      <p:sp>
        <p:nvSpPr>
          <p:cNvPr id="9" name="Text 7"/>
          <p:cNvSpPr/>
          <p:nvPr/>
        </p:nvSpPr>
        <p:spPr>
          <a:xfrm>
            <a:off x="1783080" y="1819656"/>
            <a:ext cx="9052560" cy="850392"/>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Every hard edge needs a UV seam at the same location. No exceptions. A hard edge without a matching UV seam will cause shading artifacts after baking.</a:t>
            </a:r>
            <a:endParaRPr lang="en-US" sz="1200" dirty="0"/>
          </a:p>
        </p:txBody>
      </p:sp>
      <p:sp>
        <p:nvSpPr>
          <p:cNvPr id="10" name="Shape 8"/>
          <p:cNvSpPr/>
          <p:nvPr/>
        </p:nvSpPr>
        <p:spPr>
          <a:xfrm>
            <a:off x="594360" y="2971800"/>
            <a:ext cx="10607040" cy="1417320"/>
          </a:xfrm>
          <a:prstGeom prst="rect">
            <a:avLst/>
          </a:prstGeom>
          <a:solidFill>
            <a:srgbClr val="FDFAF4"/>
          </a:solidFill>
          <a:ln w="9525">
            <a:solidFill>
              <a:srgbClr val="EDE8DF"/>
            </a:solidFill>
            <a:prstDash val="solid"/>
          </a:ln>
        </p:spPr>
      </p:sp>
      <p:sp>
        <p:nvSpPr>
          <p:cNvPr id="11" name="Shape 9"/>
          <p:cNvSpPr/>
          <p:nvPr/>
        </p:nvSpPr>
        <p:spPr>
          <a:xfrm>
            <a:off x="594360" y="2971800"/>
            <a:ext cx="45720" cy="1417320"/>
          </a:xfrm>
          <a:prstGeom prst="rect">
            <a:avLst/>
          </a:prstGeom>
          <a:solidFill>
            <a:srgbClr val="BF5700"/>
          </a:solidFill>
          <a:ln/>
        </p:spPr>
      </p:sp>
      <p:sp>
        <p:nvSpPr>
          <p:cNvPr id="12" name="Text 10"/>
          <p:cNvSpPr/>
          <p:nvPr/>
        </p:nvSpPr>
        <p:spPr>
          <a:xfrm>
            <a:off x="731520" y="3063240"/>
            <a:ext cx="1005840" cy="1234440"/>
          </a:xfrm>
          <a:prstGeom prst="rect">
            <a:avLst/>
          </a:prstGeom>
          <a:noFill/>
          <a:ln/>
        </p:spPr>
        <p:txBody>
          <a:bodyPr wrap="square" rtlCol="0" anchor="ctr"/>
          <a:lstStyle/>
          <a:p>
            <a:pPr indent="0" marL="0">
              <a:buNone/>
            </a:pPr>
            <a:r>
              <a:rPr lang="en-US" sz="4200" b="1" dirty="0">
                <a:solidFill>
                  <a:srgbClr val="EDE8DF"/>
                </a:solidFill>
                <a:latin typeface="Georgia" pitchFamily="34" charset="0"/>
                <a:ea typeface="Georgia" pitchFamily="34" charset="-122"/>
                <a:cs typeface="Georgia" pitchFamily="34" charset="-120"/>
              </a:rPr>
              <a:t>02</a:t>
            </a:r>
            <a:endParaRPr lang="en-US" sz="4200" dirty="0"/>
          </a:p>
        </p:txBody>
      </p:sp>
      <p:sp>
        <p:nvSpPr>
          <p:cNvPr id="13" name="Text 11"/>
          <p:cNvSpPr/>
          <p:nvPr/>
        </p:nvSpPr>
        <p:spPr>
          <a:xfrm>
            <a:off x="1783080" y="3099816"/>
            <a:ext cx="9052560" cy="347472"/>
          </a:xfrm>
          <a:prstGeom prst="rect">
            <a:avLst/>
          </a:prstGeom>
          <a:noFill/>
          <a:ln/>
        </p:spPr>
        <p:txBody>
          <a:bodyPr wrap="square" rtlCol="0" anchor="ctr"/>
          <a:lstStyle/>
          <a:p>
            <a:pPr indent="0" marL="0">
              <a:buNone/>
            </a:pPr>
            <a:r>
              <a:rPr lang="en-US" sz="1500" b="1" dirty="0">
                <a:solidFill>
                  <a:srgbClr val="BF5700"/>
                </a:solidFill>
                <a:latin typeface="Georgia" pitchFamily="34" charset="0"/>
                <a:ea typeface="Georgia" pitchFamily="34" charset="-122"/>
                <a:cs typeface="Georgia" pitchFamily="34" charset="-120"/>
              </a:rPr>
              <a:t>The reverse is not true</a:t>
            </a:r>
            <a:endParaRPr lang="en-US" sz="1500" dirty="0"/>
          </a:p>
        </p:txBody>
      </p:sp>
      <p:sp>
        <p:nvSpPr>
          <p:cNvPr id="14" name="Text 12"/>
          <p:cNvSpPr/>
          <p:nvPr/>
        </p:nvSpPr>
        <p:spPr>
          <a:xfrm>
            <a:off x="1783080" y="3465576"/>
            <a:ext cx="9052560" cy="850392"/>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Not every UV seam needs a hard edge. You can cut UVs at soft edges for unwrapping convenience without affecting shading.</a:t>
            </a:r>
            <a:endParaRPr lang="en-US" sz="1200" dirty="0"/>
          </a:p>
        </p:txBody>
      </p:sp>
      <p:sp>
        <p:nvSpPr>
          <p:cNvPr id="15" name="Shape 13"/>
          <p:cNvSpPr/>
          <p:nvPr/>
        </p:nvSpPr>
        <p:spPr>
          <a:xfrm>
            <a:off x="594360" y="4617720"/>
            <a:ext cx="10607040" cy="1417320"/>
          </a:xfrm>
          <a:prstGeom prst="rect">
            <a:avLst/>
          </a:prstGeom>
          <a:solidFill>
            <a:srgbClr val="FDFAF4"/>
          </a:solidFill>
          <a:ln w="9525">
            <a:solidFill>
              <a:srgbClr val="EDE8DF"/>
            </a:solidFill>
            <a:prstDash val="solid"/>
          </a:ln>
        </p:spPr>
      </p:sp>
      <p:sp>
        <p:nvSpPr>
          <p:cNvPr id="16" name="Shape 14"/>
          <p:cNvSpPr/>
          <p:nvPr/>
        </p:nvSpPr>
        <p:spPr>
          <a:xfrm>
            <a:off x="594360" y="4617720"/>
            <a:ext cx="45720" cy="1417320"/>
          </a:xfrm>
          <a:prstGeom prst="rect">
            <a:avLst/>
          </a:prstGeom>
          <a:solidFill>
            <a:srgbClr val="BF5700"/>
          </a:solidFill>
          <a:ln/>
        </p:spPr>
      </p:sp>
      <p:sp>
        <p:nvSpPr>
          <p:cNvPr id="17" name="Text 15"/>
          <p:cNvSpPr/>
          <p:nvPr/>
        </p:nvSpPr>
        <p:spPr>
          <a:xfrm>
            <a:off x="731520" y="4709160"/>
            <a:ext cx="1005840" cy="1234440"/>
          </a:xfrm>
          <a:prstGeom prst="rect">
            <a:avLst/>
          </a:prstGeom>
          <a:noFill/>
          <a:ln/>
        </p:spPr>
        <p:txBody>
          <a:bodyPr wrap="square" rtlCol="0" anchor="ctr"/>
          <a:lstStyle/>
          <a:p>
            <a:pPr indent="0" marL="0">
              <a:buNone/>
            </a:pPr>
            <a:r>
              <a:rPr lang="en-US" sz="4200" b="1" dirty="0">
                <a:solidFill>
                  <a:srgbClr val="EDE8DF"/>
                </a:solidFill>
                <a:latin typeface="Georgia" pitchFamily="34" charset="0"/>
                <a:ea typeface="Georgia" pitchFamily="34" charset="-122"/>
                <a:cs typeface="Georgia" pitchFamily="34" charset="-120"/>
              </a:rPr>
              <a:t>03</a:t>
            </a:r>
            <a:endParaRPr lang="en-US" sz="4200" dirty="0"/>
          </a:p>
        </p:txBody>
      </p:sp>
      <p:sp>
        <p:nvSpPr>
          <p:cNvPr id="18" name="Text 16"/>
          <p:cNvSpPr/>
          <p:nvPr/>
        </p:nvSpPr>
        <p:spPr>
          <a:xfrm>
            <a:off x="1783080" y="4745736"/>
            <a:ext cx="9052560" cy="347472"/>
          </a:xfrm>
          <a:prstGeom prst="rect">
            <a:avLst/>
          </a:prstGeom>
          <a:noFill/>
          <a:ln/>
        </p:spPr>
        <p:txBody>
          <a:bodyPr wrap="square" rtlCol="0" anchor="ctr"/>
          <a:lstStyle/>
          <a:p>
            <a:pPr indent="0" marL="0">
              <a:buNone/>
            </a:pPr>
            <a:r>
              <a:rPr lang="en-US" sz="1500" b="1" dirty="0">
                <a:solidFill>
                  <a:srgbClr val="BF5700"/>
                </a:solidFill>
                <a:latin typeface="Georgia" pitchFamily="34" charset="0"/>
                <a:ea typeface="Georgia" pitchFamily="34" charset="-122"/>
                <a:cs typeface="Georgia" pitchFamily="34" charset="-120"/>
              </a:rPr>
              <a:t>Why it matters</a:t>
            </a:r>
            <a:endParaRPr lang="en-US" sz="1500" dirty="0"/>
          </a:p>
        </p:txBody>
      </p:sp>
      <p:sp>
        <p:nvSpPr>
          <p:cNvPr id="19" name="Text 17"/>
          <p:cNvSpPr/>
          <p:nvPr/>
        </p:nvSpPr>
        <p:spPr>
          <a:xfrm>
            <a:off x="1783080" y="5111496"/>
            <a:ext cx="9052560" cy="850392"/>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At export, both hard edges and UV seams split vertices. The game engine needs the normal data to match the UV data at every split. Mismatches create visible seams in the normal map.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Low Poly Wireframe Example</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1371600" y="1371600"/>
            <a:ext cx="9445752" cy="4572000"/>
          </a:xfrm>
          <a:prstGeom prst="rect">
            <a:avLst/>
          </a:prstGeom>
          <a:solidFill>
            <a:srgbClr val="F5F0E8"/>
          </a:solidFill>
          <a:ln w="19050">
            <a:solidFill>
              <a:srgbClr val="D8D0C4"/>
            </a:solidFill>
            <a:prstDash val="solid"/>
          </a:ln>
        </p:spPr>
      </p:sp>
      <p:sp>
        <p:nvSpPr>
          <p:cNvPr id="6" name="Text 4"/>
          <p:cNvSpPr/>
          <p:nvPr/>
        </p:nvSpPr>
        <p:spPr>
          <a:xfrm>
            <a:off x="1371600" y="1371600"/>
            <a:ext cx="9445752" cy="4572000"/>
          </a:xfrm>
          <a:prstGeom prst="rect">
            <a:avLst/>
          </a:prstGeom>
          <a:noFill/>
          <a:ln/>
        </p:spPr>
        <p:txBody>
          <a:bodyPr wrap="square" rtlCol="0" anchor="ctr"/>
          <a:lstStyle/>
          <a:p>
            <a:pPr algn="ctr" indent="0" marL="0">
              <a:buNone/>
            </a:pPr>
            <a:r>
              <a:rPr lang="en-US" sz="1300" dirty="0">
                <a:solidFill>
                  <a:srgbClr val="999999"/>
                </a:solidFill>
                <a:latin typeface="Calibri" pitchFamily="34" charset="0"/>
                <a:ea typeface="Calibri" pitchFamily="34" charset="-122"/>
                <a:cs typeface="Calibri" pitchFamily="34" charset="-120"/>
              </a:rPr>
              <a:t>[INSERT IMAGE: Low poly wireframe example showing clean triangle distribution vs. high poly comparison]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What Are UVs?</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280160"/>
            <a:ext cx="10607040" cy="1234440"/>
          </a:xfrm>
          <a:prstGeom prst="rect">
            <a:avLst/>
          </a:prstGeom>
          <a:solidFill>
            <a:srgbClr val="FDFAF4"/>
          </a:solidFill>
          <a:ln w="9525">
            <a:solidFill>
              <a:srgbClr val="EDE8DF"/>
            </a:solidFill>
            <a:prstDash val="solid"/>
          </a:ln>
        </p:spPr>
      </p:sp>
      <p:sp>
        <p:nvSpPr>
          <p:cNvPr id="6" name="Shape 4"/>
          <p:cNvSpPr/>
          <p:nvPr/>
        </p:nvSpPr>
        <p:spPr>
          <a:xfrm>
            <a:off x="594360" y="1280160"/>
            <a:ext cx="45720" cy="1234440"/>
          </a:xfrm>
          <a:prstGeom prst="rect">
            <a:avLst/>
          </a:prstGeom>
          <a:solidFill>
            <a:srgbClr val="BF5700"/>
          </a:solidFill>
          <a:ln/>
        </p:spPr>
      </p:sp>
      <p:sp>
        <p:nvSpPr>
          <p:cNvPr id="7" name="Text 5"/>
          <p:cNvSpPr/>
          <p:nvPr/>
        </p:nvSpPr>
        <p:spPr>
          <a:xfrm>
            <a:off x="758952" y="1371600"/>
            <a:ext cx="10378440" cy="274320"/>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2D coordinates on a 3D mesh</a:t>
            </a:r>
            <a:endParaRPr lang="en-US" sz="1400" dirty="0"/>
          </a:p>
        </p:txBody>
      </p:sp>
      <p:sp>
        <p:nvSpPr>
          <p:cNvPr id="8" name="Text 6"/>
          <p:cNvSpPr/>
          <p:nvPr/>
        </p:nvSpPr>
        <p:spPr>
          <a:xfrm>
            <a:off x="758952" y="1664208"/>
            <a:ext cx="10378440" cy="777240"/>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Every vertex has a UV coordinate (U = horizontal, V = vertical) that tells the texture where to map onto that point on the surface.</a:t>
            </a:r>
            <a:endParaRPr lang="en-US" sz="1200" dirty="0"/>
          </a:p>
        </p:txBody>
      </p:sp>
      <p:sp>
        <p:nvSpPr>
          <p:cNvPr id="9" name="Shape 7"/>
          <p:cNvSpPr/>
          <p:nvPr/>
        </p:nvSpPr>
        <p:spPr>
          <a:xfrm>
            <a:off x="594360" y="2715768"/>
            <a:ext cx="10607040" cy="1234440"/>
          </a:xfrm>
          <a:prstGeom prst="rect">
            <a:avLst/>
          </a:prstGeom>
          <a:solidFill>
            <a:srgbClr val="FDFAF4"/>
          </a:solidFill>
          <a:ln w="9525">
            <a:solidFill>
              <a:srgbClr val="EDE8DF"/>
            </a:solidFill>
            <a:prstDash val="solid"/>
          </a:ln>
        </p:spPr>
      </p:sp>
      <p:sp>
        <p:nvSpPr>
          <p:cNvPr id="10" name="Shape 8"/>
          <p:cNvSpPr/>
          <p:nvPr/>
        </p:nvSpPr>
        <p:spPr>
          <a:xfrm>
            <a:off x="594360" y="2715768"/>
            <a:ext cx="45720" cy="1234440"/>
          </a:xfrm>
          <a:prstGeom prst="rect">
            <a:avLst/>
          </a:prstGeom>
          <a:solidFill>
            <a:srgbClr val="BF5700"/>
          </a:solidFill>
          <a:ln/>
        </p:spPr>
      </p:sp>
      <p:sp>
        <p:nvSpPr>
          <p:cNvPr id="11" name="Text 9"/>
          <p:cNvSpPr/>
          <p:nvPr/>
        </p:nvSpPr>
        <p:spPr>
          <a:xfrm>
            <a:off x="758952" y="2807208"/>
            <a:ext cx="10378440" cy="274320"/>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No UVs = no texture</a:t>
            </a:r>
            <a:endParaRPr lang="en-US" sz="1400" dirty="0"/>
          </a:p>
        </p:txBody>
      </p:sp>
      <p:sp>
        <p:nvSpPr>
          <p:cNvPr id="12" name="Text 10"/>
          <p:cNvSpPr/>
          <p:nvPr/>
        </p:nvSpPr>
        <p:spPr>
          <a:xfrm>
            <a:off x="758952" y="3099816"/>
            <a:ext cx="10378440" cy="777240"/>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A mesh without UVs cannot receive any texture information. UVs are required before baking or painting.</a:t>
            </a:r>
            <a:endParaRPr lang="en-US" sz="1200" dirty="0"/>
          </a:p>
        </p:txBody>
      </p:sp>
      <p:sp>
        <p:nvSpPr>
          <p:cNvPr id="13" name="Shape 11"/>
          <p:cNvSpPr/>
          <p:nvPr/>
        </p:nvSpPr>
        <p:spPr>
          <a:xfrm>
            <a:off x="594360" y="4151376"/>
            <a:ext cx="10607040" cy="1234440"/>
          </a:xfrm>
          <a:prstGeom prst="rect">
            <a:avLst/>
          </a:prstGeom>
          <a:solidFill>
            <a:srgbClr val="FDFAF4"/>
          </a:solidFill>
          <a:ln w="9525">
            <a:solidFill>
              <a:srgbClr val="EDE8DF"/>
            </a:solidFill>
            <a:prstDash val="solid"/>
          </a:ln>
        </p:spPr>
      </p:sp>
      <p:sp>
        <p:nvSpPr>
          <p:cNvPr id="14" name="Shape 12"/>
          <p:cNvSpPr/>
          <p:nvPr/>
        </p:nvSpPr>
        <p:spPr>
          <a:xfrm>
            <a:off x="594360" y="4151376"/>
            <a:ext cx="45720" cy="1234440"/>
          </a:xfrm>
          <a:prstGeom prst="rect">
            <a:avLst/>
          </a:prstGeom>
          <a:solidFill>
            <a:srgbClr val="BF5700"/>
          </a:solidFill>
          <a:ln/>
        </p:spPr>
      </p:sp>
      <p:sp>
        <p:nvSpPr>
          <p:cNvPr id="15" name="Text 13"/>
          <p:cNvSpPr/>
          <p:nvPr/>
        </p:nvSpPr>
        <p:spPr>
          <a:xfrm>
            <a:off x="758952" y="4242816"/>
            <a:ext cx="10378440" cy="274320"/>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Shells and seams</a:t>
            </a:r>
            <a:endParaRPr lang="en-US" sz="1400" dirty="0"/>
          </a:p>
        </p:txBody>
      </p:sp>
      <p:sp>
        <p:nvSpPr>
          <p:cNvPr id="16" name="Text 14"/>
          <p:cNvSpPr/>
          <p:nvPr/>
        </p:nvSpPr>
        <p:spPr>
          <a:xfrm>
            <a:off x="758952" y="4535424"/>
            <a:ext cx="10378440" cy="777240"/>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Cutting UV seams creates separate shells. Each shell is a flat 2D piece of the 3D surface, like unfolding a cardboard box.</a:t>
            </a:r>
            <a:endParaRPr lang="en-US" sz="1200" dirty="0"/>
          </a:p>
        </p:txBody>
      </p:sp>
      <p:sp>
        <p:nvSpPr>
          <p:cNvPr id="17" name="Shape 15"/>
          <p:cNvSpPr/>
          <p:nvPr/>
        </p:nvSpPr>
        <p:spPr>
          <a:xfrm>
            <a:off x="594360" y="5586984"/>
            <a:ext cx="10607040" cy="1234440"/>
          </a:xfrm>
          <a:prstGeom prst="rect">
            <a:avLst/>
          </a:prstGeom>
          <a:solidFill>
            <a:srgbClr val="FDFAF4"/>
          </a:solidFill>
          <a:ln w="9525">
            <a:solidFill>
              <a:srgbClr val="EDE8DF"/>
            </a:solidFill>
            <a:prstDash val="solid"/>
          </a:ln>
        </p:spPr>
      </p:sp>
      <p:sp>
        <p:nvSpPr>
          <p:cNvPr id="18" name="Shape 16"/>
          <p:cNvSpPr/>
          <p:nvPr/>
        </p:nvSpPr>
        <p:spPr>
          <a:xfrm>
            <a:off x="594360" y="5586984"/>
            <a:ext cx="45720" cy="1234440"/>
          </a:xfrm>
          <a:prstGeom prst="rect">
            <a:avLst/>
          </a:prstGeom>
          <a:solidFill>
            <a:srgbClr val="BF5700"/>
          </a:solidFill>
          <a:ln/>
        </p:spPr>
      </p:sp>
      <p:sp>
        <p:nvSpPr>
          <p:cNvPr id="19" name="Text 17"/>
          <p:cNvSpPr/>
          <p:nvPr/>
        </p:nvSpPr>
        <p:spPr>
          <a:xfrm>
            <a:off x="758952" y="5678424"/>
            <a:ext cx="10378440" cy="274320"/>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0-1 UV space</a:t>
            </a:r>
            <a:endParaRPr lang="en-US" sz="1400" dirty="0"/>
          </a:p>
        </p:txBody>
      </p:sp>
      <p:sp>
        <p:nvSpPr>
          <p:cNvPr id="20" name="Text 18"/>
          <p:cNvSpPr/>
          <p:nvPr/>
        </p:nvSpPr>
        <p:spPr>
          <a:xfrm>
            <a:off x="758952" y="5971032"/>
            <a:ext cx="10378440" cy="777240"/>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All shells must fit inside the 0-1 UV square. This is the area that maps to one texture image. Anything outside gets no texture data.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Projection Types</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280160"/>
            <a:ext cx="10607040" cy="1234440"/>
          </a:xfrm>
          <a:prstGeom prst="rect">
            <a:avLst/>
          </a:prstGeom>
          <a:solidFill>
            <a:srgbClr val="FDFAF4"/>
          </a:solidFill>
          <a:ln w="9525">
            <a:solidFill>
              <a:srgbClr val="EDE8DF"/>
            </a:solidFill>
            <a:prstDash val="solid"/>
          </a:ln>
        </p:spPr>
      </p:sp>
      <p:sp>
        <p:nvSpPr>
          <p:cNvPr id="6" name="Shape 4"/>
          <p:cNvSpPr/>
          <p:nvPr/>
        </p:nvSpPr>
        <p:spPr>
          <a:xfrm>
            <a:off x="594360" y="1280160"/>
            <a:ext cx="45720" cy="1234440"/>
          </a:xfrm>
          <a:prstGeom prst="rect">
            <a:avLst/>
          </a:prstGeom>
          <a:solidFill>
            <a:srgbClr val="BF5700"/>
          </a:solidFill>
          <a:ln/>
        </p:spPr>
      </p:sp>
      <p:sp>
        <p:nvSpPr>
          <p:cNvPr id="7" name="Text 5"/>
          <p:cNvSpPr/>
          <p:nvPr/>
        </p:nvSpPr>
        <p:spPr>
          <a:xfrm>
            <a:off x="758952" y="1371600"/>
            <a:ext cx="10378440" cy="274320"/>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Planar</a:t>
            </a:r>
            <a:endParaRPr lang="en-US" sz="1400" dirty="0"/>
          </a:p>
        </p:txBody>
      </p:sp>
      <p:sp>
        <p:nvSpPr>
          <p:cNvPr id="8" name="Text 6"/>
          <p:cNvSpPr/>
          <p:nvPr/>
        </p:nvSpPr>
        <p:spPr>
          <a:xfrm>
            <a:off x="758952" y="1664208"/>
            <a:ext cx="10378440" cy="777240"/>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Projects from a flat plane. Best for walls, panels, flat tops. Choose the axis that faces the surface most directly.</a:t>
            </a:r>
            <a:endParaRPr lang="en-US" sz="1200" dirty="0"/>
          </a:p>
        </p:txBody>
      </p:sp>
      <p:sp>
        <p:nvSpPr>
          <p:cNvPr id="9" name="Shape 7"/>
          <p:cNvSpPr/>
          <p:nvPr/>
        </p:nvSpPr>
        <p:spPr>
          <a:xfrm>
            <a:off x="594360" y="2715768"/>
            <a:ext cx="10607040" cy="1234440"/>
          </a:xfrm>
          <a:prstGeom prst="rect">
            <a:avLst/>
          </a:prstGeom>
          <a:solidFill>
            <a:srgbClr val="FDFAF4"/>
          </a:solidFill>
          <a:ln w="9525">
            <a:solidFill>
              <a:srgbClr val="EDE8DF"/>
            </a:solidFill>
            <a:prstDash val="solid"/>
          </a:ln>
        </p:spPr>
      </p:sp>
      <p:sp>
        <p:nvSpPr>
          <p:cNvPr id="10" name="Shape 8"/>
          <p:cNvSpPr/>
          <p:nvPr/>
        </p:nvSpPr>
        <p:spPr>
          <a:xfrm>
            <a:off x="594360" y="2715768"/>
            <a:ext cx="45720" cy="1234440"/>
          </a:xfrm>
          <a:prstGeom prst="rect">
            <a:avLst/>
          </a:prstGeom>
          <a:solidFill>
            <a:srgbClr val="BF5700"/>
          </a:solidFill>
          <a:ln/>
        </p:spPr>
      </p:sp>
      <p:sp>
        <p:nvSpPr>
          <p:cNvPr id="11" name="Text 9"/>
          <p:cNvSpPr/>
          <p:nvPr/>
        </p:nvSpPr>
        <p:spPr>
          <a:xfrm>
            <a:off x="758952" y="2807208"/>
            <a:ext cx="10378440" cy="274320"/>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Cylindrical</a:t>
            </a:r>
            <a:endParaRPr lang="en-US" sz="1400" dirty="0"/>
          </a:p>
        </p:txBody>
      </p:sp>
      <p:sp>
        <p:nvSpPr>
          <p:cNvPr id="12" name="Text 10"/>
          <p:cNvSpPr/>
          <p:nvPr/>
        </p:nvSpPr>
        <p:spPr>
          <a:xfrm>
            <a:off x="758952" y="3099816"/>
            <a:ext cx="10378440" cy="777240"/>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Wraps around a cylinder axis. Best for tubes, barrels, handles. Align the axis to the length of the object.</a:t>
            </a:r>
            <a:endParaRPr lang="en-US" sz="1200" dirty="0"/>
          </a:p>
        </p:txBody>
      </p:sp>
      <p:sp>
        <p:nvSpPr>
          <p:cNvPr id="13" name="Shape 11"/>
          <p:cNvSpPr/>
          <p:nvPr/>
        </p:nvSpPr>
        <p:spPr>
          <a:xfrm>
            <a:off x="594360" y="4151376"/>
            <a:ext cx="10607040" cy="1234440"/>
          </a:xfrm>
          <a:prstGeom prst="rect">
            <a:avLst/>
          </a:prstGeom>
          <a:solidFill>
            <a:srgbClr val="FDFAF4"/>
          </a:solidFill>
          <a:ln w="9525">
            <a:solidFill>
              <a:srgbClr val="EDE8DF"/>
            </a:solidFill>
            <a:prstDash val="solid"/>
          </a:ln>
        </p:spPr>
      </p:sp>
      <p:sp>
        <p:nvSpPr>
          <p:cNvPr id="14" name="Shape 12"/>
          <p:cNvSpPr/>
          <p:nvPr/>
        </p:nvSpPr>
        <p:spPr>
          <a:xfrm>
            <a:off x="594360" y="4151376"/>
            <a:ext cx="45720" cy="1234440"/>
          </a:xfrm>
          <a:prstGeom prst="rect">
            <a:avLst/>
          </a:prstGeom>
          <a:solidFill>
            <a:srgbClr val="BF5700"/>
          </a:solidFill>
          <a:ln/>
        </p:spPr>
      </p:sp>
      <p:sp>
        <p:nvSpPr>
          <p:cNvPr id="15" name="Text 13"/>
          <p:cNvSpPr/>
          <p:nvPr/>
        </p:nvSpPr>
        <p:spPr>
          <a:xfrm>
            <a:off x="758952" y="4242816"/>
            <a:ext cx="10378440" cy="274320"/>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Spherical</a:t>
            </a:r>
            <a:endParaRPr lang="en-US" sz="1400" dirty="0"/>
          </a:p>
        </p:txBody>
      </p:sp>
      <p:sp>
        <p:nvSpPr>
          <p:cNvPr id="16" name="Text 14"/>
          <p:cNvSpPr/>
          <p:nvPr/>
        </p:nvSpPr>
        <p:spPr>
          <a:xfrm>
            <a:off x="758952" y="4535424"/>
            <a:ext cx="10378440" cy="777240"/>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Wraps around a sphere. Best for balls, domes, rounded objects. Creates pinching at the poles.</a:t>
            </a:r>
            <a:endParaRPr lang="en-US" sz="1200" dirty="0"/>
          </a:p>
        </p:txBody>
      </p:sp>
      <p:sp>
        <p:nvSpPr>
          <p:cNvPr id="17" name="Shape 15"/>
          <p:cNvSpPr/>
          <p:nvPr/>
        </p:nvSpPr>
        <p:spPr>
          <a:xfrm>
            <a:off x="594360" y="5586984"/>
            <a:ext cx="10607040" cy="1234440"/>
          </a:xfrm>
          <a:prstGeom prst="rect">
            <a:avLst/>
          </a:prstGeom>
          <a:solidFill>
            <a:srgbClr val="FDFAF4"/>
          </a:solidFill>
          <a:ln w="9525">
            <a:solidFill>
              <a:srgbClr val="EDE8DF"/>
            </a:solidFill>
            <a:prstDash val="solid"/>
          </a:ln>
        </p:spPr>
      </p:sp>
      <p:sp>
        <p:nvSpPr>
          <p:cNvPr id="18" name="Shape 16"/>
          <p:cNvSpPr/>
          <p:nvPr/>
        </p:nvSpPr>
        <p:spPr>
          <a:xfrm>
            <a:off x="594360" y="5586984"/>
            <a:ext cx="45720" cy="1234440"/>
          </a:xfrm>
          <a:prstGeom prst="rect">
            <a:avLst/>
          </a:prstGeom>
          <a:solidFill>
            <a:srgbClr val="BF5700"/>
          </a:solidFill>
          <a:ln/>
        </p:spPr>
      </p:sp>
      <p:sp>
        <p:nvSpPr>
          <p:cNvPr id="19" name="Text 17"/>
          <p:cNvSpPr/>
          <p:nvPr/>
        </p:nvSpPr>
        <p:spPr>
          <a:xfrm>
            <a:off x="758952" y="5678424"/>
            <a:ext cx="10378440" cy="274320"/>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Automatic</a:t>
            </a:r>
            <a:endParaRPr lang="en-US" sz="1400" dirty="0"/>
          </a:p>
        </p:txBody>
      </p:sp>
      <p:sp>
        <p:nvSpPr>
          <p:cNvPr id="20" name="Text 18"/>
          <p:cNvSpPr/>
          <p:nvPr/>
        </p:nvSpPr>
        <p:spPr>
          <a:xfrm>
            <a:off x="758952" y="5971032"/>
            <a:ext cx="10378440" cy="777240"/>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Projects from multiple angles at once. Good starting point for complex shapes. Usually needs cleanup with Unfold and Optimize.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Seam Placement</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280160"/>
            <a:ext cx="10607040" cy="1078992"/>
          </a:xfrm>
          <a:prstGeom prst="rect">
            <a:avLst/>
          </a:prstGeom>
          <a:solidFill>
            <a:srgbClr val="FDFAF4"/>
          </a:solidFill>
          <a:ln w="9525">
            <a:solidFill>
              <a:srgbClr val="EDE8DF"/>
            </a:solidFill>
            <a:prstDash val="solid"/>
          </a:ln>
        </p:spPr>
      </p:sp>
      <p:sp>
        <p:nvSpPr>
          <p:cNvPr id="6" name="Shape 4"/>
          <p:cNvSpPr/>
          <p:nvPr/>
        </p:nvSpPr>
        <p:spPr>
          <a:xfrm>
            <a:off x="594360" y="1280160"/>
            <a:ext cx="45720" cy="1078992"/>
          </a:xfrm>
          <a:prstGeom prst="rect">
            <a:avLst/>
          </a:prstGeom>
          <a:solidFill>
            <a:srgbClr val="BF5700"/>
          </a:solidFill>
          <a:ln/>
        </p:spPr>
      </p:sp>
      <p:sp>
        <p:nvSpPr>
          <p:cNvPr id="7" name="Text 5"/>
          <p:cNvSpPr/>
          <p:nvPr/>
        </p:nvSpPr>
        <p:spPr>
          <a:xfrm>
            <a:off x="731520" y="1325880"/>
            <a:ext cx="1005840" cy="987552"/>
          </a:xfrm>
          <a:prstGeom prst="rect">
            <a:avLst/>
          </a:prstGeom>
          <a:noFill/>
          <a:ln/>
        </p:spPr>
        <p:txBody>
          <a:bodyPr wrap="square" rtlCol="0" anchor="ctr"/>
          <a:lstStyle/>
          <a:p>
            <a:pPr indent="0" marL="0">
              <a:buNone/>
            </a:pPr>
            <a:r>
              <a:rPr lang="en-US" sz="3800" b="1" dirty="0">
                <a:solidFill>
                  <a:srgbClr val="EDE8DF"/>
                </a:solidFill>
                <a:latin typeface="Georgia" pitchFamily="34" charset="0"/>
                <a:ea typeface="Georgia" pitchFamily="34" charset="-122"/>
                <a:cs typeface="Georgia" pitchFamily="34" charset="-120"/>
              </a:rPr>
              <a:t>01</a:t>
            </a:r>
            <a:endParaRPr lang="en-US" sz="3800" dirty="0"/>
          </a:p>
        </p:txBody>
      </p:sp>
      <p:sp>
        <p:nvSpPr>
          <p:cNvPr id="8" name="Text 6"/>
          <p:cNvSpPr/>
          <p:nvPr/>
        </p:nvSpPr>
        <p:spPr>
          <a:xfrm>
            <a:off x="1783080" y="1371600"/>
            <a:ext cx="9052560" cy="310896"/>
          </a:xfrm>
          <a:prstGeom prst="rect">
            <a:avLst/>
          </a:prstGeom>
          <a:noFill/>
          <a:ln/>
        </p:spPr>
        <p:txBody>
          <a:bodyPr wrap="square" rtlCol="0" anchor="ctr"/>
          <a:lstStyle/>
          <a:p>
            <a:pPr indent="0" marL="0">
              <a:buNone/>
            </a:pPr>
            <a:r>
              <a:rPr lang="en-US" sz="1500" b="1" dirty="0">
                <a:solidFill>
                  <a:srgbClr val="BF5700"/>
                </a:solidFill>
                <a:latin typeface="Georgia" pitchFamily="34" charset="0"/>
                <a:ea typeface="Georgia" pitchFamily="34" charset="-122"/>
                <a:cs typeface="Georgia" pitchFamily="34" charset="-120"/>
              </a:rPr>
              <a:t>Cut at hard edges</a:t>
            </a:r>
            <a:endParaRPr lang="en-US" sz="1500" dirty="0"/>
          </a:p>
        </p:txBody>
      </p:sp>
      <p:sp>
        <p:nvSpPr>
          <p:cNvPr id="9" name="Text 7"/>
          <p:cNvSpPr/>
          <p:nvPr/>
        </p:nvSpPr>
        <p:spPr>
          <a:xfrm>
            <a:off x="1783080" y="1700784"/>
            <a:ext cx="9052560" cy="603504"/>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You already have a shading break there. The seam is invisible because the surface already has a visible edge.</a:t>
            </a:r>
            <a:endParaRPr lang="en-US" sz="1200" dirty="0"/>
          </a:p>
        </p:txBody>
      </p:sp>
      <p:sp>
        <p:nvSpPr>
          <p:cNvPr id="10" name="Shape 8"/>
          <p:cNvSpPr/>
          <p:nvPr/>
        </p:nvSpPr>
        <p:spPr>
          <a:xfrm>
            <a:off x="594360" y="2505456"/>
            <a:ext cx="10607040" cy="1078992"/>
          </a:xfrm>
          <a:prstGeom prst="rect">
            <a:avLst/>
          </a:prstGeom>
          <a:solidFill>
            <a:srgbClr val="FDFAF4"/>
          </a:solidFill>
          <a:ln w="9525">
            <a:solidFill>
              <a:srgbClr val="EDE8DF"/>
            </a:solidFill>
            <a:prstDash val="solid"/>
          </a:ln>
        </p:spPr>
      </p:sp>
      <p:sp>
        <p:nvSpPr>
          <p:cNvPr id="11" name="Shape 9"/>
          <p:cNvSpPr/>
          <p:nvPr/>
        </p:nvSpPr>
        <p:spPr>
          <a:xfrm>
            <a:off x="594360" y="2505456"/>
            <a:ext cx="45720" cy="1078992"/>
          </a:xfrm>
          <a:prstGeom prst="rect">
            <a:avLst/>
          </a:prstGeom>
          <a:solidFill>
            <a:srgbClr val="BF5700"/>
          </a:solidFill>
          <a:ln/>
        </p:spPr>
      </p:sp>
      <p:sp>
        <p:nvSpPr>
          <p:cNvPr id="12" name="Text 10"/>
          <p:cNvSpPr/>
          <p:nvPr/>
        </p:nvSpPr>
        <p:spPr>
          <a:xfrm>
            <a:off x="731520" y="2551176"/>
            <a:ext cx="1005840" cy="987552"/>
          </a:xfrm>
          <a:prstGeom prst="rect">
            <a:avLst/>
          </a:prstGeom>
          <a:noFill/>
          <a:ln/>
        </p:spPr>
        <p:txBody>
          <a:bodyPr wrap="square" rtlCol="0" anchor="ctr"/>
          <a:lstStyle/>
          <a:p>
            <a:pPr indent="0" marL="0">
              <a:buNone/>
            </a:pPr>
            <a:r>
              <a:rPr lang="en-US" sz="3800" b="1" dirty="0">
                <a:solidFill>
                  <a:srgbClr val="EDE8DF"/>
                </a:solidFill>
                <a:latin typeface="Georgia" pitchFamily="34" charset="0"/>
                <a:ea typeface="Georgia" pitchFamily="34" charset="-122"/>
                <a:cs typeface="Georgia" pitchFamily="34" charset="-120"/>
              </a:rPr>
              <a:t>02</a:t>
            </a:r>
            <a:endParaRPr lang="en-US" sz="3800" dirty="0"/>
          </a:p>
        </p:txBody>
      </p:sp>
      <p:sp>
        <p:nvSpPr>
          <p:cNvPr id="13" name="Text 11"/>
          <p:cNvSpPr/>
          <p:nvPr/>
        </p:nvSpPr>
        <p:spPr>
          <a:xfrm>
            <a:off x="1783080" y="2596896"/>
            <a:ext cx="9052560" cy="310896"/>
          </a:xfrm>
          <a:prstGeom prst="rect">
            <a:avLst/>
          </a:prstGeom>
          <a:noFill/>
          <a:ln/>
        </p:spPr>
        <p:txBody>
          <a:bodyPr wrap="square" rtlCol="0" anchor="ctr"/>
          <a:lstStyle/>
          <a:p>
            <a:pPr indent="0" marL="0">
              <a:buNone/>
            </a:pPr>
            <a:r>
              <a:rPr lang="en-US" sz="1500" b="1" dirty="0">
                <a:solidFill>
                  <a:srgbClr val="BF5700"/>
                </a:solidFill>
                <a:latin typeface="Georgia" pitchFamily="34" charset="0"/>
                <a:ea typeface="Georgia" pitchFamily="34" charset="-122"/>
                <a:cs typeface="Georgia" pitchFamily="34" charset="-120"/>
              </a:rPr>
              <a:t>Cut at part boundaries</a:t>
            </a:r>
            <a:endParaRPr lang="en-US" sz="1500" dirty="0"/>
          </a:p>
        </p:txBody>
      </p:sp>
      <p:sp>
        <p:nvSpPr>
          <p:cNvPr id="14" name="Text 12"/>
          <p:cNvSpPr/>
          <p:nvPr/>
        </p:nvSpPr>
        <p:spPr>
          <a:xfrm>
            <a:off x="1783080" y="2926080"/>
            <a:ext cx="9052560" cy="603504"/>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Natural material breaks and part separations are ideal seam locations. The viewer expects a visual break here.</a:t>
            </a:r>
            <a:endParaRPr lang="en-US" sz="1200" dirty="0"/>
          </a:p>
        </p:txBody>
      </p:sp>
      <p:sp>
        <p:nvSpPr>
          <p:cNvPr id="15" name="Shape 13"/>
          <p:cNvSpPr/>
          <p:nvPr/>
        </p:nvSpPr>
        <p:spPr>
          <a:xfrm>
            <a:off x="594360" y="3730752"/>
            <a:ext cx="10607040" cy="1078992"/>
          </a:xfrm>
          <a:prstGeom prst="rect">
            <a:avLst/>
          </a:prstGeom>
          <a:solidFill>
            <a:srgbClr val="FDFAF4"/>
          </a:solidFill>
          <a:ln w="9525">
            <a:solidFill>
              <a:srgbClr val="EDE8DF"/>
            </a:solidFill>
            <a:prstDash val="solid"/>
          </a:ln>
        </p:spPr>
      </p:sp>
      <p:sp>
        <p:nvSpPr>
          <p:cNvPr id="16" name="Shape 14"/>
          <p:cNvSpPr/>
          <p:nvPr/>
        </p:nvSpPr>
        <p:spPr>
          <a:xfrm>
            <a:off x="594360" y="3730752"/>
            <a:ext cx="45720" cy="1078992"/>
          </a:xfrm>
          <a:prstGeom prst="rect">
            <a:avLst/>
          </a:prstGeom>
          <a:solidFill>
            <a:srgbClr val="BF5700"/>
          </a:solidFill>
          <a:ln/>
        </p:spPr>
      </p:sp>
      <p:sp>
        <p:nvSpPr>
          <p:cNvPr id="17" name="Text 15"/>
          <p:cNvSpPr/>
          <p:nvPr/>
        </p:nvSpPr>
        <p:spPr>
          <a:xfrm>
            <a:off x="731520" y="3776472"/>
            <a:ext cx="1005840" cy="987552"/>
          </a:xfrm>
          <a:prstGeom prst="rect">
            <a:avLst/>
          </a:prstGeom>
          <a:noFill/>
          <a:ln/>
        </p:spPr>
        <p:txBody>
          <a:bodyPr wrap="square" rtlCol="0" anchor="ctr"/>
          <a:lstStyle/>
          <a:p>
            <a:pPr indent="0" marL="0">
              <a:buNone/>
            </a:pPr>
            <a:r>
              <a:rPr lang="en-US" sz="3800" b="1" dirty="0">
                <a:solidFill>
                  <a:srgbClr val="EDE8DF"/>
                </a:solidFill>
                <a:latin typeface="Georgia" pitchFamily="34" charset="0"/>
                <a:ea typeface="Georgia" pitchFamily="34" charset="-122"/>
                <a:cs typeface="Georgia" pitchFamily="34" charset="-120"/>
              </a:rPr>
              <a:t>03</a:t>
            </a:r>
            <a:endParaRPr lang="en-US" sz="3800" dirty="0"/>
          </a:p>
        </p:txBody>
      </p:sp>
      <p:sp>
        <p:nvSpPr>
          <p:cNvPr id="18" name="Text 16"/>
          <p:cNvSpPr/>
          <p:nvPr/>
        </p:nvSpPr>
        <p:spPr>
          <a:xfrm>
            <a:off x="1783080" y="3822192"/>
            <a:ext cx="9052560" cy="310896"/>
          </a:xfrm>
          <a:prstGeom prst="rect">
            <a:avLst/>
          </a:prstGeom>
          <a:noFill/>
          <a:ln/>
        </p:spPr>
        <p:txBody>
          <a:bodyPr wrap="square" rtlCol="0" anchor="ctr"/>
          <a:lstStyle/>
          <a:p>
            <a:pPr indent="0" marL="0">
              <a:buNone/>
            </a:pPr>
            <a:r>
              <a:rPr lang="en-US" sz="1500" b="1" dirty="0">
                <a:solidFill>
                  <a:srgbClr val="BF5700"/>
                </a:solidFill>
                <a:latin typeface="Georgia" pitchFamily="34" charset="0"/>
                <a:ea typeface="Georgia" pitchFamily="34" charset="-122"/>
                <a:cs typeface="Georgia" pitchFamily="34" charset="-120"/>
              </a:rPr>
              <a:t>Hide remaining seams</a:t>
            </a:r>
            <a:endParaRPr lang="en-US" sz="1500" dirty="0"/>
          </a:p>
        </p:txBody>
      </p:sp>
      <p:sp>
        <p:nvSpPr>
          <p:cNvPr id="19" name="Text 17"/>
          <p:cNvSpPr/>
          <p:nvPr/>
        </p:nvSpPr>
        <p:spPr>
          <a:xfrm>
            <a:off x="1783080" y="4151376"/>
            <a:ext cx="9052560" cy="603504"/>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Place any additional seams where the camera won't see them: bottoms, backs, undersides, areas covered by other geometry.</a:t>
            </a:r>
            <a:endParaRPr lang="en-US" sz="1200" dirty="0"/>
          </a:p>
        </p:txBody>
      </p:sp>
      <p:sp>
        <p:nvSpPr>
          <p:cNvPr id="20" name="Shape 18"/>
          <p:cNvSpPr/>
          <p:nvPr/>
        </p:nvSpPr>
        <p:spPr>
          <a:xfrm>
            <a:off x="594360" y="4956048"/>
            <a:ext cx="10607040" cy="1078992"/>
          </a:xfrm>
          <a:prstGeom prst="rect">
            <a:avLst/>
          </a:prstGeom>
          <a:solidFill>
            <a:srgbClr val="FDFAF4"/>
          </a:solidFill>
          <a:ln w="9525">
            <a:solidFill>
              <a:srgbClr val="EDE8DF"/>
            </a:solidFill>
            <a:prstDash val="solid"/>
          </a:ln>
        </p:spPr>
      </p:sp>
      <p:sp>
        <p:nvSpPr>
          <p:cNvPr id="21" name="Shape 19"/>
          <p:cNvSpPr/>
          <p:nvPr/>
        </p:nvSpPr>
        <p:spPr>
          <a:xfrm>
            <a:off x="594360" y="4956048"/>
            <a:ext cx="45720" cy="1078992"/>
          </a:xfrm>
          <a:prstGeom prst="rect">
            <a:avLst/>
          </a:prstGeom>
          <a:solidFill>
            <a:srgbClr val="BF5700"/>
          </a:solidFill>
          <a:ln/>
        </p:spPr>
      </p:sp>
      <p:sp>
        <p:nvSpPr>
          <p:cNvPr id="22" name="Text 20"/>
          <p:cNvSpPr/>
          <p:nvPr/>
        </p:nvSpPr>
        <p:spPr>
          <a:xfrm>
            <a:off x="731520" y="5001768"/>
            <a:ext cx="1005840" cy="987552"/>
          </a:xfrm>
          <a:prstGeom prst="rect">
            <a:avLst/>
          </a:prstGeom>
          <a:noFill/>
          <a:ln/>
        </p:spPr>
        <p:txBody>
          <a:bodyPr wrap="square" rtlCol="0" anchor="ctr"/>
          <a:lstStyle/>
          <a:p>
            <a:pPr indent="0" marL="0">
              <a:buNone/>
            </a:pPr>
            <a:r>
              <a:rPr lang="en-US" sz="3800" b="1" dirty="0">
                <a:solidFill>
                  <a:srgbClr val="EDE8DF"/>
                </a:solidFill>
                <a:latin typeface="Georgia" pitchFamily="34" charset="0"/>
                <a:ea typeface="Georgia" pitchFamily="34" charset="-122"/>
                <a:cs typeface="Georgia" pitchFamily="34" charset="-120"/>
              </a:rPr>
              <a:t>04</a:t>
            </a:r>
            <a:endParaRPr lang="en-US" sz="3800" dirty="0"/>
          </a:p>
        </p:txBody>
      </p:sp>
      <p:sp>
        <p:nvSpPr>
          <p:cNvPr id="23" name="Text 21"/>
          <p:cNvSpPr/>
          <p:nvPr/>
        </p:nvSpPr>
        <p:spPr>
          <a:xfrm>
            <a:off x="1783080" y="5047488"/>
            <a:ext cx="9052560" cy="310896"/>
          </a:xfrm>
          <a:prstGeom prst="rect">
            <a:avLst/>
          </a:prstGeom>
          <a:noFill/>
          <a:ln/>
        </p:spPr>
        <p:txBody>
          <a:bodyPr wrap="square" rtlCol="0" anchor="ctr"/>
          <a:lstStyle/>
          <a:p>
            <a:pPr indent="0" marL="0">
              <a:buNone/>
            </a:pPr>
            <a:r>
              <a:rPr lang="en-US" sz="1500" b="1" dirty="0">
                <a:solidFill>
                  <a:srgbClr val="BF5700"/>
                </a:solidFill>
                <a:latin typeface="Georgia" pitchFamily="34" charset="0"/>
                <a:ea typeface="Georgia" pitchFamily="34" charset="-122"/>
                <a:cs typeface="Georgia" pitchFamily="34" charset="-120"/>
              </a:rPr>
              <a:t>The tradeoff</a:t>
            </a:r>
            <a:endParaRPr lang="en-US" sz="1500" dirty="0"/>
          </a:p>
        </p:txBody>
      </p:sp>
      <p:sp>
        <p:nvSpPr>
          <p:cNvPr id="24" name="Text 22"/>
          <p:cNvSpPr/>
          <p:nvPr/>
        </p:nvSpPr>
        <p:spPr>
          <a:xfrm>
            <a:off x="1783080" y="5376672"/>
            <a:ext cx="9052560" cy="603504"/>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Fewer seams = easier to paint across, but more stretching. More seams = less stretching, but higher vertex count in engine and more seam edges to hide.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Texel Density</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325880"/>
            <a:ext cx="5349240" cy="2194560"/>
          </a:xfrm>
          <a:prstGeom prst="rect">
            <a:avLst/>
          </a:prstGeom>
          <a:solidFill>
            <a:srgbClr val="FDFAF4"/>
          </a:solidFill>
          <a:ln w="9525">
            <a:solidFill>
              <a:srgbClr val="EDE8DF"/>
            </a:solidFill>
            <a:prstDash val="solid"/>
          </a:ln>
        </p:spPr>
      </p:sp>
      <p:sp>
        <p:nvSpPr>
          <p:cNvPr id="6" name="Shape 4"/>
          <p:cNvSpPr/>
          <p:nvPr/>
        </p:nvSpPr>
        <p:spPr>
          <a:xfrm>
            <a:off x="594360" y="1325880"/>
            <a:ext cx="45720" cy="2194560"/>
          </a:xfrm>
          <a:prstGeom prst="rect">
            <a:avLst/>
          </a:prstGeom>
          <a:solidFill>
            <a:srgbClr val="BF5700"/>
          </a:solidFill>
          <a:ln/>
        </p:spPr>
      </p:sp>
      <p:sp>
        <p:nvSpPr>
          <p:cNvPr id="7" name="Shape 5"/>
          <p:cNvSpPr/>
          <p:nvPr/>
        </p:nvSpPr>
        <p:spPr>
          <a:xfrm>
            <a:off x="758952" y="1453896"/>
            <a:ext cx="1463040" cy="274320"/>
          </a:xfrm>
          <a:prstGeom prst="roundRect">
            <a:avLst>
              <a:gd name="adj" fmla="val 16667"/>
            </a:avLst>
          </a:prstGeom>
          <a:solidFill>
            <a:srgbClr val="BF5700"/>
          </a:solidFill>
          <a:ln/>
        </p:spPr>
      </p:sp>
      <p:sp>
        <p:nvSpPr>
          <p:cNvPr id="8" name="Text 6"/>
          <p:cNvSpPr/>
          <p:nvPr/>
        </p:nvSpPr>
        <p:spPr>
          <a:xfrm>
            <a:off x="758952" y="1453896"/>
            <a:ext cx="14630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WHAT IT IS</a:t>
            </a:r>
            <a:endParaRPr lang="en-US" sz="800" dirty="0"/>
          </a:p>
        </p:txBody>
      </p:sp>
      <p:sp>
        <p:nvSpPr>
          <p:cNvPr id="9" name="Text 7"/>
          <p:cNvSpPr/>
          <p:nvPr/>
        </p:nvSpPr>
        <p:spPr>
          <a:xfrm>
            <a:off x="758952" y="1783080"/>
            <a:ext cx="5093208" cy="310896"/>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Pixels per world unit</a:t>
            </a:r>
            <a:endParaRPr lang="en-US" sz="1400" dirty="0"/>
          </a:p>
        </p:txBody>
      </p:sp>
      <p:sp>
        <p:nvSpPr>
          <p:cNvPr id="10" name="Text 8"/>
          <p:cNvSpPr/>
          <p:nvPr/>
        </p:nvSpPr>
        <p:spPr>
          <a:xfrm>
            <a:off x="758952" y="2130552"/>
            <a:ext cx="5093208" cy="1335024"/>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A texel density of 512 means 512 texture pixels for every meter of world space. This number should be consistent across every asset in a scene.</a:t>
            </a:r>
            <a:endParaRPr lang="en-US" sz="1200" dirty="0"/>
          </a:p>
        </p:txBody>
      </p:sp>
      <p:sp>
        <p:nvSpPr>
          <p:cNvPr id="11" name="Shape 9"/>
          <p:cNvSpPr/>
          <p:nvPr/>
        </p:nvSpPr>
        <p:spPr>
          <a:xfrm>
            <a:off x="6336792" y="1325880"/>
            <a:ext cx="5349240" cy="2194560"/>
          </a:xfrm>
          <a:prstGeom prst="rect">
            <a:avLst/>
          </a:prstGeom>
          <a:solidFill>
            <a:srgbClr val="FDFAF4"/>
          </a:solidFill>
          <a:ln w="9525">
            <a:solidFill>
              <a:srgbClr val="EDE8DF"/>
            </a:solidFill>
            <a:prstDash val="solid"/>
          </a:ln>
        </p:spPr>
      </p:sp>
      <p:sp>
        <p:nvSpPr>
          <p:cNvPr id="12" name="Shape 10"/>
          <p:cNvSpPr/>
          <p:nvPr/>
        </p:nvSpPr>
        <p:spPr>
          <a:xfrm>
            <a:off x="6336792" y="1325880"/>
            <a:ext cx="45720" cy="2194560"/>
          </a:xfrm>
          <a:prstGeom prst="rect">
            <a:avLst/>
          </a:prstGeom>
          <a:solidFill>
            <a:srgbClr val="BF5700"/>
          </a:solidFill>
          <a:ln/>
        </p:spPr>
      </p:sp>
      <p:sp>
        <p:nvSpPr>
          <p:cNvPr id="13" name="Shape 11"/>
          <p:cNvSpPr/>
          <p:nvPr/>
        </p:nvSpPr>
        <p:spPr>
          <a:xfrm>
            <a:off x="6501384" y="1453896"/>
            <a:ext cx="1463040" cy="274320"/>
          </a:xfrm>
          <a:prstGeom prst="roundRect">
            <a:avLst>
              <a:gd name="adj" fmla="val 16667"/>
            </a:avLst>
          </a:prstGeom>
          <a:solidFill>
            <a:srgbClr val="BF5700"/>
          </a:solidFill>
          <a:ln/>
        </p:spPr>
      </p:sp>
      <p:sp>
        <p:nvSpPr>
          <p:cNvPr id="14" name="Text 12"/>
          <p:cNvSpPr/>
          <p:nvPr/>
        </p:nvSpPr>
        <p:spPr>
          <a:xfrm>
            <a:off x="6501384" y="1453896"/>
            <a:ext cx="14630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WHY IT MATTERS</a:t>
            </a:r>
            <a:endParaRPr lang="en-US" sz="800" dirty="0"/>
          </a:p>
        </p:txBody>
      </p:sp>
      <p:sp>
        <p:nvSpPr>
          <p:cNvPr id="15" name="Text 13"/>
          <p:cNvSpPr/>
          <p:nvPr/>
        </p:nvSpPr>
        <p:spPr>
          <a:xfrm>
            <a:off x="6501384" y="1783080"/>
            <a:ext cx="5093208" cy="310896"/>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Visual consistency</a:t>
            </a:r>
            <a:endParaRPr lang="en-US" sz="1400" dirty="0"/>
          </a:p>
        </p:txBody>
      </p:sp>
      <p:sp>
        <p:nvSpPr>
          <p:cNvPr id="16" name="Text 14"/>
          <p:cNvSpPr/>
          <p:nvPr/>
        </p:nvSpPr>
        <p:spPr>
          <a:xfrm>
            <a:off x="6501384" y="2130552"/>
            <a:ext cx="5093208" cy="1335024"/>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Inconsistent texel density is one of the most visible mistakes in environment art. One blurry prop next to a crisp one breaks the entire scene.</a:t>
            </a:r>
            <a:endParaRPr lang="en-US" sz="1200" dirty="0"/>
          </a:p>
        </p:txBody>
      </p:sp>
      <p:sp>
        <p:nvSpPr>
          <p:cNvPr id="17" name="Shape 15"/>
          <p:cNvSpPr/>
          <p:nvPr/>
        </p:nvSpPr>
        <p:spPr>
          <a:xfrm>
            <a:off x="594360" y="3721608"/>
            <a:ext cx="5349240" cy="2194560"/>
          </a:xfrm>
          <a:prstGeom prst="rect">
            <a:avLst/>
          </a:prstGeom>
          <a:solidFill>
            <a:srgbClr val="FDFAF4"/>
          </a:solidFill>
          <a:ln w="9525">
            <a:solidFill>
              <a:srgbClr val="EDE8DF"/>
            </a:solidFill>
            <a:prstDash val="solid"/>
          </a:ln>
        </p:spPr>
      </p:sp>
      <p:sp>
        <p:nvSpPr>
          <p:cNvPr id="18" name="Shape 16"/>
          <p:cNvSpPr/>
          <p:nvPr/>
        </p:nvSpPr>
        <p:spPr>
          <a:xfrm>
            <a:off x="594360" y="3721608"/>
            <a:ext cx="45720" cy="2194560"/>
          </a:xfrm>
          <a:prstGeom prst="rect">
            <a:avLst/>
          </a:prstGeom>
          <a:solidFill>
            <a:srgbClr val="BF5700"/>
          </a:solidFill>
          <a:ln/>
        </p:spPr>
      </p:sp>
      <p:sp>
        <p:nvSpPr>
          <p:cNvPr id="19" name="Shape 17"/>
          <p:cNvSpPr/>
          <p:nvPr/>
        </p:nvSpPr>
        <p:spPr>
          <a:xfrm>
            <a:off x="758952" y="3849624"/>
            <a:ext cx="1463040" cy="274320"/>
          </a:xfrm>
          <a:prstGeom prst="roundRect">
            <a:avLst>
              <a:gd name="adj" fmla="val 16667"/>
            </a:avLst>
          </a:prstGeom>
          <a:solidFill>
            <a:srgbClr val="BF5700"/>
          </a:solidFill>
          <a:ln/>
        </p:spPr>
      </p:sp>
      <p:sp>
        <p:nvSpPr>
          <p:cNvPr id="20" name="Text 18"/>
          <p:cNvSpPr/>
          <p:nvPr/>
        </p:nvSpPr>
        <p:spPr>
          <a:xfrm>
            <a:off x="758952" y="3849624"/>
            <a:ext cx="14630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HOW TO CHECK</a:t>
            </a:r>
            <a:endParaRPr lang="en-US" sz="800" dirty="0"/>
          </a:p>
        </p:txBody>
      </p:sp>
      <p:sp>
        <p:nvSpPr>
          <p:cNvPr id="21" name="Text 19"/>
          <p:cNvSpPr/>
          <p:nvPr/>
        </p:nvSpPr>
        <p:spPr>
          <a:xfrm>
            <a:off x="758952" y="4178808"/>
            <a:ext cx="5093208" cy="310896"/>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Checker texture</a:t>
            </a:r>
            <a:endParaRPr lang="en-US" sz="1400" dirty="0"/>
          </a:p>
        </p:txBody>
      </p:sp>
      <p:sp>
        <p:nvSpPr>
          <p:cNvPr id="22" name="Text 20"/>
          <p:cNvSpPr/>
          <p:nvPr/>
        </p:nvSpPr>
        <p:spPr>
          <a:xfrm>
            <a:off x="758952" y="4526280"/>
            <a:ext cx="5093208" cy="1335024"/>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Apply a checker texture. The squares should be the same physical size on every asset in the scene. Stretched or compressed squares mean the density is off.</a:t>
            </a:r>
            <a:endParaRPr lang="en-US" sz="1200" dirty="0"/>
          </a:p>
        </p:txBody>
      </p:sp>
      <p:sp>
        <p:nvSpPr>
          <p:cNvPr id="23" name="Shape 21"/>
          <p:cNvSpPr/>
          <p:nvPr/>
        </p:nvSpPr>
        <p:spPr>
          <a:xfrm>
            <a:off x="6336792" y="3721608"/>
            <a:ext cx="5349240" cy="2194560"/>
          </a:xfrm>
          <a:prstGeom prst="rect">
            <a:avLst/>
          </a:prstGeom>
          <a:solidFill>
            <a:srgbClr val="FDFAF4"/>
          </a:solidFill>
          <a:ln w="9525">
            <a:solidFill>
              <a:srgbClr val="EDE8DF"/>
            </a:solidFill>
            <a:prstDash val="solid"/>
          </a:ln>
        </p:spPr>
      </p:sp>
      <p:sp>
        <p:nvSpPr>
          <p:cNvPr id="24" name="Shape 22"/>
          <p:cNvSpPr/>
          <p:nvPr/>
        </p:nvSpPr>
        <p:spPr>
          <a:xfrm>
            <a:off x="6336792" y="3721608"/>
            <a:ext cx="45720" cy="2194560"/>
          </a:xfrm>
          <a:prstGeom prst="rect">
            <a:avLst/>
          </a:prstGeom>
          <a:solidFill>
            <a:srgbClr val="BF5700"/>
          </a:solidFill>
          <a:ln/>
        </p:spPr>
      </p:sp>
      <p:sp>
        <p:nvSpPr>
          <p:cNvPr id="25" name="Shape 23"/>
          <p:cNvSpPr/>
          <p:nvPr/>
        </p:nvSpPr>
        <p:spPr>
          <a:xfrm>
            <a:off x="6501384" y="3849624"/>
            <a:ext cx="1463040" cy="274320"/>
          </a:xfrm>
          <a:prstGeom prst="roundRect">
            <a:avLst>
              <a:gd name="adj" fmla="val 16667"/>
            </a:avLst>
          </a:prstGeom>
          <a:solidFill>
            <a:srgbClr val="BF5700"/>
          </a:solidFill>
          <a:ln/>
        </p:spPr>
      </p:sp>
      <p:sp>
        <p:nvSpPr>
          <p:cNvPr id="26" name="Text 24"/>
          <p:cNvSpPr/>
          <p:nvPr/>
        </p:nvSpPr>
        <p:spPr>
          <a:xfrm>
            <a:off x="6501384" y="3849624"/>
            <a:ext cx="14630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HERO VS. BACKGROUND</a:t>
            </a:r>
            <a:endParaRPr lang="en-US" sz="800" dirty="0"/>
          </a:p>
        </p:txBody>
      </p:sp>
      <p:sp>
        <p:nvSpPr>
          <p:cNvPr id="27" name="Text 25"/>
          <p:cNvSpPr/>
          <p:nvPr/>
        </p:nvSpPr>
        <p:spPr>
          <a:xfrm>
            <a:off x="6501384" y="4178808"/>
            <a:ext cx="5093208" cy="310896"/>
          </a:xfrm>
          <a:prstGeom prst="rect">
            <a:avLst/>
          </a:prstGeom>
          <a:noFill/>
          <a:ln/>
        </p:spPr>
        <p:txBody>
          <a:bodyPr wrap="square" rtlCol="0" anchor="ctr"/>
          <a:lstStyle/>
          <a:p>
            <a:pPr indent="0" marL="0">
              <a:buNone/>
            </a:pPr>
            <a:r>
              <a:rPr lang="en-US" sz="1400" b="1" dirty="0">
                <a:solidFill>
                  <a:srgbClr val="BF5700"/>
                </a:solidFill>
                <a:latin typeface="Georgia" pitchFamily="34" charset="0"/>
                <a:ea typeface="Georgia" pitchFamily="34" charset="-122"/>
                <a:cs typeface="Georgia" pitchFamily="34" charset="-120"/>
              </a:rPr>
              <a:t>Budget by role</a:t>
            </a:r>
            <a:endParaRPr lang="en-US" sz="1400" dirty="0"/>
          </a:p>
        </p:txBody>
      </p:sp>
      <p:sp>
        <p:nvSpPr>
          <p:cNvPr id="28" name="Text 26"/>
          <p:cNvSpPr/>
          <p:nvPr/>
        </p:nvSpPr>
        <p:spPr>
          <a:xfrm>
            <a:off x="6501384" y="4526280"/>
            <a:ext cx="5093208" cy="1335024"/>
          </a:xfrm>
          <a:prstGeom prst="rect">
            <a:avLst/>
          </a:prstGeom>
          <a:noFill/>
          <a:ln/>
        </p:spPr>
        <p:txBody>
          <a:bodyPr wrap="square" rtlCol="0" anchor="t"/>
          <a:lstStyle/>
          <a:p>
            <a:pPr indent="0" marL="0">
              <a:buNone/>
            </a:pPr>
            <a:r>
              <a:rPr lang="en-US" sz="1200" dirty="0">
                <a:solidFill>
                  <a:srgbClr val="6B6B6B"/>
                </a:solidFill>
                <a:latin typeface="Calibri" pitchFamily="34" charset="0"/>
                <a:ea typeface="Calibri" pitchFamily="34" charset="-122"/>
                <a:cs typeface="Calibri" pitchFamily="34" charset="-120"/>
              </a:rPr>
              <a:t>Hero props may get higher texel density (more pixels per meter). Background props may get lower. The key is that within each tier, density stays consistent.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How UVs Affect Vertex Count</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234440"/>
            <a:ext cx="5303520" cy="402336"/>
          </a:xfrm>
          <a:prstGeom prst="rect">
            <a:avLst/>
          </a:prstGeom>
          <a:solidFill>
            <a:srgbClr val="BF5700"/>
          </a:solidFill>
          <a:ln/>
        </p:spPr>
      </p:sp>
      <p:sp>
        <p:nvSpPr>
          <p:cNvPr id="6" name="Text 4"/>
          <p:cNvSpPr/>
          <p:nvPr/>
        </p:nvSpPr>
        <p:spPr>
          <a:xfrm>
            <a:off x="685800" y="1234440"/>
            <a:ext cx="512064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WHAT HAPPENS AT EXPORT</a:t>
            </a:r>
            <a:endParaRPr lang="en-US" sz="1300" dirty="0"/>
          </a:p>
        </p:txBody>
      </p:sp>
      <p:sp>
        <p:nvSpPr>
          <p:cNvPr id="7" name="Shape 5"/>
          <p:cNvSpPr/>
          <p:nvPr/>
        </p:nvSpPr>
        <p:spPr>
          <a:xfrm>
            <a:off x="594360" y="1636776"/>
            <a:ext cx="5303520" cy="4535424"/>
          </a:xfrm>
          <a:prstGeom prst="rect">
            <a:avLst/>
          </a:prstGeom>
          <a:solidFill>
            <a:srgbClr val="FDFAF4"/>
          </a:solidFill>
          <a:ln w="9525">
            <a:solidFill>
              <a:srgbClr val="EDE8DF"/>
            </a:solidFill>
            <a:prstDash val="solid"/>
          </a:ln>
        </p:spPr>
      </p:sp>
      <p:sp>
        <p:nvSpPr>
          <p:cNvPr id="8" name="Text 6"/>
          <p:cNvSpPr/>
          <p:nvPr/>
        </p:nvSpPr>
        <p:spPr>
          <a:xfrm>
            <a:off x="795528" y="1801368"/>
            <a:ext cx="4983480" cy="4306824"/>
          </a:xfrm>
          <a:prstGeom prst="rect">
            <a:avLst/>
          </a:prstGeom>
          <a:noFill/>
          <a:ln/>
        </p:spPr>
        <p:txBody>
          <a:bodyPr wrap="square" rtlCol="0" anchor="t"/>
          <a:lstStyle/>
          <a:p>
            <a:pPr>
              <a:spcAft>
                <a:spcPts val="600"/>
              </a:spcAft>
            </a:pPr>
            <a:r>
              <a:rPr lang="en-US" sz="1300" dirty="0">
                <a:solidFill>
                  <a:srgbClr val="2D2D2D"/>
                </a:solidFill>
                <a:latin typeface="Calibri" pitchFamily="34" charset="0"/>
                <a:ea typeface="Calibri" pitchFamily="34" charset="-122"/>
                <a:cs typeface="Calibri" pitchFamily="34" charset="-120"/>
              </a:rPr>
              <a:t>UV seams split vertices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Maya shows 1 vert at a seam, the engine sees 2</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Hard edges also split verts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A mesh with many seams and hard edges has a higher vert count in engine than Maya reports</a:t>
            </a:r>
            <a:endParaRPr lang="en-US" sz="1300" dirty="0"/>
          </a:p>
        </p:txBody>
      </p:sp>
      <p:sp>
        <p:nvSpPr>
          <p:cNvPr id="9" name="Shape 7"/>
          <p:cNvSpPr/>
          <p:nvPr/>
        </p:nvSpPr>
        <p:spPr>
          <a:xfrm>
            <a:off x="6263640" y="1234440"/>
            <a:ext cx="5303520" cy="402336"/>
          </a:xfrm>
          <a:prstGeom prst="rect">
            <a:avLst/>
          </a:prstGeom>
          <a:solidFill>
            <a:srgbClr val="6B6B6B"/>
          </a:solidFill>
          <a:ln/>
        </p:spPr>
      </p:sp>
      <p:sp>
        <p:nvSpPr>
          <p:cNvPr id="10" name="Text 8"/>
          <p:cNvSpPr/>
          <p:nvPr/>
        </p:nvSpPr>
        <p:spPr>
          <a:xfrm>
            <a:off x="6355080" y="1234440"/>
            <a:ext cx="512064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WHAT THIS MEANS</a:t>
            </a:r>
            <a:endParaRPr lang="en-US" sz="1300" dirty="0"/>
          </a:p>
        </p:txBody>
      </p:sp>
      <p:sp>
        <p:nvSpPr>
          <p:cNvPr id="11" name="Shape 9"/>
          <p:cNvSpPr/>
          <p:nvPr/>
        </p:nvSpPr>
        <p:spPr>
          <a:xfrm>
            <a:off x="6263640" y="1636776"/>
            <a:ext cx="5303520" cy="4535424"/>
          </a:xfrm>
          <a:prstGeom prst="rect">
            <a:avLst/>
          </a:prstGeom>
          <a:solidFill>
            <a:srgbClr val="FDFAF4"/>
          </a:solidFill>
          <a:ln w="9525">
            <a:solidFill>
              <a:srgbClr val="EDE8DF"/>
            </a:solidFill>
            <a:prstDash val="solid"/>
          </a:ln>
        </p:spPr>
      </p:sp>
      <p:sp>
        <p:nvSpPr>
          <p:cNvPr id="12" name="Text 10"/>
          <p:cNvSpPr/>
          <p:nvPr/>
        </p:nvSpPr>
        <p:spPr>
          <a:xfrm>
            <a:off x="6464808" y="1801368"/>
            <a:ext cx="4983480" cy="4306824"/>
          </a:xfrm>
          <a:prstGeom prst="rect">
            <a:avLst/>
          </a:prstGeom>
          <a:noFill/>
          <a:ln/>
        </p:spPr>
        <p:txBody>
          <a:bodyPr wrap="square" rtlCol="0" anchor="t"/>
          <a:lstStyle/>
          <a:p>
            <a:pPr>
              <a:spcAft>
                <a:spcPts val="600"/>
              </a:spcAft>
            </a:pPr>
            <a:r>
              <a:rPr lang="en-US" sz="1300" dirty="0">
                <a:solidFill>
                  <a:srgbClr val="2D2D2D"/>
                </a:solidFill>
                <a:latin typeface="Calibri" pitchFamily="34" charset="0"/>
                <a:ea typeface="Calibri" pitchFamily="34" charset="-122"/>
                <a:cs typeface="Calibri" pitchFamily="34" charset="-120"/>
              </a:rPr>
              <a:t>Not a reason to avoid seams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Clean UVs matter more than vert count savings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Just be aware when budgeting: in-engine vert count will be higher than Maya reports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Smoothing groups, UV seams, and vertex colors all contribute to splits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Check Your Work</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234440"/>
            <a:ext cx="5303520" cy="402336"/>
          </a:xfrm>
          <a:prstGeom prst="rect">
            <a:avLst/>
          </a:prstGeom>
          <a:solidFill>
            <a:srgbClr val="BF5700"/>
          </a:solidFill>
          <a:ln/>
        </p:spPr>
      </p:sp>
      <p:sp>
        <p:nvSpPr>
          <p:cNvPr id="6" name="Text 4"/>
          <p:cNvSpPr/>
          <p:nvPr/>
        </p:nvSpPr>
        <p:spPr>
          <a:xfrm>
            <a:off x="685800" y="1234440"/>
            <a:ext cx="512064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LOW POLY CHECKS</a:t>
            </a:r>
            <a:endParaRPr lang="en-US" sz="1300" dirty="0"/>
          </a:p>
        </p:txBody>
      </p:sp>
      <p:sp>
        <p:nvSpPr>
          <p:cNvPr id="7" name="Shape 5"/>
          <p:cNvSpPr/>
          <p:nvPr/>
        </p:nvSpPr>
        <p:spPr>
          <a:xfrm>
            <a:off x="594360" y="1636776"/>
            <a:ext cx="5303520" cy="4535424"/>
          </a:xfrm>
          <a:prstGeom prst="rect">
            <a:avLst/>
          </a:prstGeom>
          <a:solidFill>
            <a:srgbClr val="FDFAF4"/>
          </a:solidFill>
          <a:ln w="9525">
            <a:solidFill>
              <a:srgbClr val="EDE8DF"/>
            </a:solidFill>
            <a:prstDash val="solid"/>
          </a:ln>
        </p:spPr>
      </p:sp>
      <p:sp>
        <p:nvSpPr>
          <p:cNvPr id="8" name="Text 6"/>
          <p:cNvSpPr/>
          <p:nvPr/>
        </p:nvSpPr>
        <p:spPr>
          <a:xfrm>
            <a:off x="795528" y="1801368"/>
            <a:ext cx="4983480" cy="4306824"/>
          </a:xfrm>
          <a:prstGeom prst="rect">
            <a:avLst/>
          </a:prstGeom>
          <a:noFill/>
          <a:ln/>
        </p:spPr>
        <p:txBody>
          <a:bodyPr wrap="square" rtlCol="0" anchor="t"/>
          <a:lstStyle/>
          <a:p>
            <a:pPr>
              <a:spcAft>
                <a:spcPts val="600"/>
              </a:spcAft>
            </a:pPr>
            <a:r>
              <a:rPr lang="en-US" sz="1300" dirty="0">
                <a:solidFill>
                  <a:srgbClr val="2D2D2D"/>
                </a:solidFill>
                <a:latin typeface="Calibri" pitchFamily="34" charset="0"/>
                <a:ea typeface="Calibri" pitchFamily="34" charset="-122"/>
                <a:cs typeface="Calibri" pitchFamily="34" charset="-120"/>
              </a:rPr>
              <a:t>Silhouette matches high poly at intended distance</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No unnecessary geometry on flat surfaces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Hidden faces deleted</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Hard/soft edges set intentionally</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History deleted, transforms frozen, pivot correct</a:t>
            </a:r>
            <a:endParaRPr lang="en-US" sz="1300" dirty="0"/>
          </a:p>
        </p:txBody>
      </p:sp>
      <p:sp>
        <p:nvSpPr>
          <p:cNvPr id="9" name="Shape 7"/>
          <p:cNvSpPr/>
          <p:nvPr/>
        </p:nvSpPr>
        <p:spPr>
          <a:xfrm>
            <a:off x="6263640" y="1234440"/>
            <a:ext cx="5303520" cy="402336"/>
          </a:xfrm>
          <a:prstGeom prst="rect">
            <a:avLst/>
          </a:prstGeom>
          <a:solidFill>
            <a:srgbClr val="6B6B6B"/>
          </a:solidFill>
          <a:ln/>
        </p:spPr>
      </p:sp>
      <p:sp>
        <p:nvSpPr>
          <p:cNvPr id="10" name="Text 8"/>
          <p:cNvSpPr/>
          <p:nvPr/>
        </p:nvSpPr>
        <p:spPr>
          <a:xfrm>
            <a:off x="6355080" y="1234440"/>
            <a:ext cx="512064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UV CHECKS</a:t>
            </a:r>
            <a:endParaRPr lang="en-US" sz="1300" dirty="0"/>
          </a:p>
        </p:txBody>
      </p:sp>
      <p:sp>
        <p:nvSpPr>
          <p:cNvPr id="11" name="Shape 9"/>
          <p:cNvSpPr/>
          <p:nvPr/>
        </p:nvSpPr>
        <p:spPr>
          <a:xfrm>
            <a:off x="6263640" y="1636776"/>
            <a:ext cx="5303520" cy="4535424"/>
          </a:xfrm>
          <a:prstGeom prst="rect">
            <a:avLst/>
          </a:prstGeom>
          <a:solidFill>
            <a:srgbClr val="FDFAF4"/>
          </a:solidFill>
          <a:ln w="9525">
            <a:solidFill>
              <a:srgbClr val="EDE8DF"/>
            </a:solidFill>
            <a:prstDash val="solid"/>
          </a:ln>
        </p:spPr>
      </p:sp>
      <p:sp>
        <p:nvSpPr>
          <p:cNvPr id="12" name="Text 10"/>
          <p:cNvSpPr/>
          <p:nvPr/>
        </p:nvSpPr>
        <p:spPr>
          <a:xfrm>
            <a:off x="6464808" y="1801368"/>
            <a:ext cx="4983480" cy="4306824"/>
          </a:xfrm>
          <a:prstGeom prst="rect">
            <a:avLst/>
          </a:prstGeom>
          <a:noFill/>
          <a:ln/>
        </p:spPr>
        <p:txBody>
          <a:bodyPr wrap="square" rtlCol="0" anchor="t"/>
          <a:lstStyle/>
          <a:p>
            <a:pPr>
              <a:spcAft>
                <a:spcPts val="600"/>
              </a:spcAft>
            </a:pPr>
            <a:r>
              <a:rPr lang="en-US" sz="1300" dirty="0">
                <a:solidFill>
                  <a:srgbClr val="2D2D2D"/>
                </a:solidFill>
                <a:latin typeface="Calibri" pitchFamily="34" charset="0"/>
                <a:ea typeface="Calibri" pitchFamily="34" charset="-122"/>
                <a:cs typeface="Calibri" pitchFamily="34" charset="-120"/>
              </a:rPr>
              <a:t>Checker texture shows consistent texel density</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No extreme stretching or compression</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All shells inside 0-1 UV space</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No unintentional overlapping UVs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Seam at every hard edge</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Shells oriented consistently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UV Layout Example</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1371600" y="1371600"/>
            <a:ext cx="9445752" cy="4572000"/>
          </a:xfrm>
          <a:prstGeom prst="rect">
            <a:avLst/>
          </a:prstGeom>
          <a:solidFill>
            <a:srgbClr val="F5F0E8"/>
          </a:solidFill>
          <a:ln w="19050">
            <a:solidFill>
              <a:srgbClr val="D8D0C4"/>
            </a:solidFill>
            <a:prstDash val="solid"/>
          </a:ln>
        </p:spPr>
      </p:sp>
      <p:sp>
        <p:nvSpPr>
          <p:cNvPr id="6" name="Text 4"/>
          <p:cNvSpPr/>
          <p:nvPr/>
        </p:nvSpPr>
        <p:spPr>
          <a:xfrm>
            <a:off x="1371600" y="1371600"/>
            <a:ext cx="9445752" cy="4572000"/>
          </a:xfrm>
          <a:prstGeom prst="rect">
            <a:avLst/>
          </a:prstGeom>
          <a:noFill/>
          <a:ln/>
        </p:spPr>
        <p:txBody>
          <a:bodyPr wrap="square" rtlCol="0" anchor="ctr"/>
          <a:lstStyle/>
          <a:p>
            <a:pPr algn="ctr" indent="0" marL="0">
              <a:buNone/>
            </a:pPr>
            <a:r>
              <a:rPr lang="en-US" sz="1300" dirty="0">
                <a:solidFill>
                  <a:srgbClr val="999999"/>
                </a:solidFill>
                <a:latin typeface="Calibri" pitchFamily="34" charset="0"/>
                <a:ea typeface="Calibri" pitchFamily="34" charset="-122"/>
                <a:cs typeface="Calibri" pitchFamily="34" charset="-120"/>
              </a:rPr>
              <a:t>[INSERT IMAGE: UV layout example showing clean shell packing in 0-1 space with checker texture applied]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0E8"/>
          </a:solidFill>
          <a:ln/>
        </p:spPr>
      </p:sp>
      <p:sp>
        <p:nvSpPr>
          <p:cNvPr id="3" name="Text 1"/>
          <p:cNvSpPr/>
          <p:nvPr/>
        </p:nvSpPr>
        <p:spPr>
          <a:xfrm>
            <a:off x="594360" y="384048"/>
            <a:ext cx="10972800" cy="594360"/>
          </a:xfrm>
          <a:prstGeom prst="rect">
            <a:avLst/>
          </a:prstGeom>
          <a:noFill/>
          <a:ln/>
        </p:spPr>
        <p:txBody>
          <a:bodyPr wrap="square" rtlCol="0" anchor="ctr"/>
          <a:lstStyle/>
          <a:p>
            <a:pPr indent="0" marL="0">
              <a:buNone/>
            </a:pPr>
            <a:r>
              <a:rPr lang="en-US" sz="3200" b="1" dirty="0">
                <a:solidFill>
                  <a:srgbClr val="BF5700"/>
                </a:solidFill>
                <a:latin typeface="Georgia" pitchFamily="34" charset="0"/>
                <a:ea typeface="Georgia" pitchFamily="34" charset="-122"/>
                <a:cs typeface="Georgia" pitchFamily="34" charset="-120"/>
              </a:rPr>
              <a:t>Assignment: Low Poly + UVs</a:t>
            </a:r>
            <a:endParaRPr lang="en-US" sz="3200" dirty="0"/>
          </a:p>
        </p:txBody>
      </p:sp>
      <p:sp>
        <p:nvSpPr>
          <p:cNvPr id="4" name="Shape 2"/>
          <p:cNvSpPr/>
          <p:nvPr/>
        </p:nvSpPr>
        <p:spPr>
          <a:xfrm>
            <a:off x="594360" y="1051560"/>
            <a:ext cx="10972800" cy="0"/>
          </a:xfrm>
          <a:prstGeom prst="line">
            <a:avLst/>
          </a:prstGeom>
          <a:noFill/>
          <a:ln w="12700">
            <a:solidFill>
              <a:srgbClr val="D8D0C4"/>
            </a:solidFill>
            <a:prstDash val="solid"/>
          </a:ln>
        </p:spPr>
      </p:sp>
      <p:sp>
        <p:nvSpPr>
          <p:cNvPr id="5" name="Shape 3"/>
          <p:cNvSpPr/>
          <p:nvPr/>
        </p:nvSpPr>
        <p:spPr>
          <a:xfrm>
            <a:off x="594360" y="1234440"/>
            <a:ext cx="5303520" cy="402336"/>
          </a:xfrm>
          <a:prstGeom prst="rect">
            <a:avLst/>
          </a:prstGeom>
          <a:solidFill>
            <a:srgbClr val="BF5700"/>
          </a:solidFill>
          <a:ln/>
        </p:spPr>
      </p:sp>
      <p:sp>
        <p:nvSpPr>
          <p:cNvPr id="6" name="Text 4"/>
          <p:cNvSpPr/>
          <p:nvPr/>
        </p:nvSpPr>
        <p:spPr>
          <a:xfrm>
            <a:off x="685800" y="1234440"/>
            <a:ext cx="512064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LEVEL 1 - Beginner</a:t>
            </a:r>
            <a:endParaRPr lang="en-US" sz="1300" dirty="0"/>
          </a:p>
        </p:txBody>
      </p:sp>
      <p:sp>
        <p:nvSpPr>
          <p:cNvPr id="7" name="Shape 5"/>
          <p:cNvSpPr/>
          <p:nvPr/>
        </p:nvSpPr>
        <p:spPr>
          <a:xfrm>
            <a:off x="594360" y="1636776"/>
            <a:ext cx="5303520" cy="4535424"/>
          </a:xfrm>
          <a:prstGeom prst="rect">
            <a:avLst/>
          </a:prstGeom>
          <a:solidFill>
            <a:srgbClr val="FDFAF4"/>
          </a:solidFill>
          <a:ln w="9525">
            <a:solidFill>
              <a:srgbClr val="EDE8DF"/>
            </a:solidFill>
            <a:prstDash val="solid"/>
          </a:ln>
        </p:spPr>
      </p:sp>
      <p:sp>
        <p:nvSpPr>
          <p:cNvPr id="8" name="Text 6"/>
          <p:cNvSpPr/>
          <p:nvPr/>
        </p:nvSpPr>
        <p:spPr>
          <a:xfrm>
            <a:off x="795528" y="1801368"/>
            <a:ext cx="4983480" cy="4306824"/>
          </a:xfrm>
          <a:prstGeom prst="rect">
            <a:avLst/>
          </a:prstGeom>
          <a:noFill/>
          <a:ln/>
        </p:spPr>
        <p:txBody>
          <a:bodyPr wrap="square" rtlCol="0" anchor="t"/>
          <a:lstStyle/>
          <a:p>
            <a:pPr>
              <a:spcAft>
                <a:spcPts val="600"/>
              </a:spcAft>
            </a:pPr>
            <a:r>
              <a:rPr lang="en-US" sz="1300" dirty="0">
                <a:solidFill>
                  <a:srgbClr val="2D2D2D"/>
                </a:solidFill>
                <a:latin typeface="Calibri" pitchFamily="34" charset="0"/>
                <a:ea typeface="Calibri" pitchFamily="34" charset="-122"/>
                <a:cs typeface="Calibri" pitchFamily="34" charset="-120"/>
              </a:rPr>
              <a:t>Build a low poly from your high proxy or new blockout</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UV unwrap with proper seam placement</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Consistent texel density shown with checker texture</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Hard edges with matching UV seams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Context note: triangle budget decisions</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Submit: .ma file, 4 screenshots, reference board PNG</a:t>
            </a:r>
            <a:endParaRPr lang="en-US" sz="1300" dirty="0"/>
          </a:p>
        </p:txBody>
      </p:sp>
      <p:sp>
        <p:nvSpPr>
          <p:cNvPr id="9" name="Shape 7"/>
          <p:cNvSpPr/>
          <p:nvPr/>
        </p:nvSpPr>
        <p:spPr>
          <a:xfrm>
            <a:off x="6263640" y="1234440"/>
            <a:ext cx="5303520" cy="402336"/>
          </a:xfrm>
          <a:prstGeom prst="rect">
            <a:avLst/>
          </a:prstGeom>
          <a:solidFill>
            <a:srgbClr val="6B6B6B"/>
          </a:solidFill>
          <a:ln/>
        </p:spPr>
      </p:sp>
      <p:sp>
        <p:nvSpPr>
          <p:cNvPr id="10" name="Text 8"/>
          <p:cNvSpPr/>
          <p:nvPr/>
        </p:nvSpPr>
        <p:spPr>
          <a:xfrm>
            <a:off x="6355080" y="1234440"/>
            <a:ext cx="512064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LEVEL 2 - Intermediate</a:t>
            </a:r>
            <a:endParaRPr lang="en-US" sz="1300" dirty="0"/>
          </a:p>
        </p:txBody>
      </p:sp>
      <p:sp>
        <p:nvSpPr>
          <p:cNvPr id="11" name="Shape 9"/>
          <p:cNvSpPr/>
          <p:nvPr/>
        </p:nvSpPr>
        <p:spPr>
          <a:xfrm>
            <a:off x="6263640" y="1636776"/>
            <a:ext cx="5303520" cy="4535424"/>
          </a:xfrm>
          <a:prstGeom prst="rect">
            <a:avLst/>
          </a:prstGeom>
          <a:solidFill>
            <a:srgbClr val="FDFAF4"/>
          </a:solidFill>
          <a:ln w="9525">
            <a:solidFill>
              <a:srgbClr val="EDE8DF"/>
            </a:solidFill>
            <a:prstDash val="solid"/>
          </a:ln>
        </p:spPr>
      </p:sp>
      <p:sp>
        <p:nvSpPr>
          <p:cNvPr id="12" name="Text 10"/>
          <p:cNvSpPr/>
          <p:nvPr/>
        </p:nvSpPr>
        <p:spPr>
          <a:xfrm>
            <a:off x="6464808" y="1801368"/>
            <a:ext cx="4983480" cy="4306824"/>
          </a:xfrm>
          <a:prstGeom prst="rect">
            <a:avLst/>
          </a:prstGeom>
          <a:noFill/>
          <a:ln/>
        </p:spPr>
        <p:txBody>
          <a:bodyPr wrap="square" rtlCol="0" anchor="t"/>
          <a:lstStyle/>
          <a:p>
            <a:pPr>
              <a:spcAft>
                <a:spcPts val="600"/>
              </a:spcAft>
            </a:pPr>
            <a:r>
              <a:rPr lang="en-US" sz="1300" dirty="0">
                <a:solidFill>
                  <a:srgbClr val="2D2D2D"/>
                </a:solidFill>
                <a:latin typeface="Calibri" pitchFamily="34" charset="0"/>
                <a:ea typeface="Calibri" pitchFamily="34" charset="-122"/>
                <a:cs typeface="Calibri" pitchFamily="34" charset="-120"/>
              </a:rPr>
              <a:t>Everything in Level 1</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State a target texel density and scale all shells to match</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Mirrored or overlapping UVs where appropriate</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Smoothing groups fully resolved across entire mesh</a:t>
            </a:r>
            <a:endParaRPr lang="en-US" sz="1300" dirty="0"/>
          </a:p>
          <a:p>
            <a:pPr>
              <a:spcAft>
                <a:spcPts val="600"/>
              </a:spcAft>
            </a:pPr>
            <a:r>
              <a:rPr lang="en-US" sz="1300" dirty="0">
                <a:solidFill>
                  <a:srgbClr val="2D2D2D"/>
                </a:solidFill>
                <a:latin typeface="Calibri" pitchFamily="34" charset="0"/>
                <a:ea typeface="Calibri" pitchFamily="34" charset="-122"/>
                <a:cs typeface="Calibri" pitchFamily="34" charset="-120"/>
              </a:rPr>
              <a:t>Texel density note with target value and reasoning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2026-03-23T19:28:56Z</dcterms:created>
  <dcterms:modified xsi:type="dcterms:W3CDTF">2026-03-23T19:28:56Z</dcterms:modified>
</cp:coreProperties>
</file>